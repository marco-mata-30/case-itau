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1" r:id="rId2"/>
    <p:sldId id="272" r:id="rId3"/>
    <p:sldId id="257" r:id="rId4"/>
    <p:sldId id="270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3" r:id="rId13"/>
    <p:sldId id="274" r:id="rId14"/>
    <p:sldId id="275" r:id="rId15"/>
    <p:sldId id="276" r:id="rId16"/>
    <p:sldId id="268" r:id="rId17"/>
    <p:sldId id="269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resentação" id="{08F8599D-EFBB-4054-AC85-E450C53BED1E}">
          <p14:sldIdLst>
            <p14:sldId id="271"/>
            <p14:sldId id="272"/>
            <p14:sldId id="257"/>
          </p14:sldIdLst>
        </p14:section>
        <p14:section name="Análises" id="{A6158F61-7103-4731-925A-38BABB1DBB0D}">
          <p14:sldIdLst>
            <p14:sldId id="270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Machine Learning" id="{8B8271E4-AC59-4DBA-B5B2-594EEA35AB09}">
          <p14:sldIdLst>
            <p14:sldId id="264"/>
            <p14:sldId id="273"/>
            <p14:sldId id="274"/>
            <p14:sldId id="275"/>
            <p14:sldId id="276"/>
          </p14:sldIdLst>
        </p14:section>
        <p14:section name="Conclusão" id="{CBA74F0A-7EAB-4868-B14A-E07CA0FA176B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921"/>
    <a:srgbClr val="0000FF"/>
    <a:srgbClr val="FF6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608738-EFFD-4E7E-9E68-DE0FBA16907F}" v="51" dt="2025-11-09T20:43:25.0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Antonio Silva da Mata" userId="6cf6f677f457a952" providerId="LiveId" clId="{C979EA11-90D9-436B-AA7B-14ADA208148B}"/>
    <pc:docChg chg="undo custSel addSld delSld modSld modSection">
      <pc:chgData name="Marco Antonio Silva da Mata" userId="6cf6f677f457a952" providerId="LiveId" clId="{C979EA11-90D9-436B-AA7B-14ADA208148B}" dt="2025-11-09T20:44:14.889" v="2744" actId="1076"/>
      <pc:docMkLst>
        <pc:docMk/>
      </pc:docMkLst>
      <pc:sldChg chg="addSp delSp modSp mod modTransition">
        <pc:chgData name="Marco Antonio Silva da Mata" userId="6cf6f677f457a952" providerId="LiveId" clId="{C979EA11-90D9-436B-AA7B-14ADA208148B}" dt="2025-11-09T20:23:02.108" v="2023" actId="1076"/>
        <pc:sldMkLst>
          <pc:docMk/>
          <pc:sldMk cId="792904791" sldId="264"/>
        </pc:sldMkLst>
        <pc:spChg chg="add del mod">
          <ac:chgData name="Marco Antonio Silva da Mata" userId="6cf6f677f457a952" providerId="LiveId" clId="{C979EA11-90D9-436B-AA7B-14ADA208148B}" dt="2025-11-09T20:16:03.712" v="1555" actId="478"/>
          <ac:spMkLst>
            <pc:docMk/>
            <pc:sldMk cId="792904791" sldId="264"/>
            <ac:spMk id="2" creationId="{92349EDB-FE60-8F85-B13A-145EC1C4FD92}"/>
          </ac:spMkLst>
        </pc:spChg>
        <pc:spChg chg="add del mod">
          <ac:chgData name="Marco Antonio Silva da Mata" userId="6cf6f677f457a952" providerId="LiveId" clId="{C979EA11-90D9-436B-AA7B-14ADA208148B}" dt="2025-11-09T20:16:05.749" v="1557" actId="478"/>
          <ac:spMkLst>
            <pc:docMk/>
            <pc:sldMk cId="792904791" sldId="264"/>
            <ac:spMk id="3" creationId="{B64FA02B-EBEB-FF0D-B63A-E801200C5BEB}"/>
          </ac:spMkLst>
        </pc:spChg>
        <pc:spChg chg="add del mod">
          <ac:chgData name="Marco Antonio Silva da Mata" userId="6cf6f677f457a952" providerId="LiveId" clId="{C979EA11-90D9-436B-AA7B-14ADA208148B}" dt="2025-11-09T20:16:01.848" v="1554" actId="478"/>
          <ac:spMkLst>
            <pc:docMk/>
            <pc:sldMk cId="792904791" sldId="264"/>
            <ac:spMk id="5" creationId="{0C1C9FA8-953D-53DA-E087-599FC94CDF09}"/>
          </ac:spMkLst>
        </pc:spChg>
        <pc:spChg chg="del mod ord">
          <ac:chgData name="Marco Antonio Silva da Mata" userId="6cf6f677f457a952" providerId="LiveId" clId="{C979EA11-90D9-436B-AA7B-14ADA208148B}" dt="2025-11-09T20:16:04.906" v="1556" actId="478"/>
          <ac:spMkLst>
            <pc:docMk/>
            <pc:sldMk cId="792904791" sldId="264"/>
            <ac:spMk id="8" creationId="{3117D60A-53C1-452F-F627-0E0C1EB21413}"/>
          </ac:spMkLst>
        </pc:spChg>
        <pc:spChg chg="del">
          <ac:chgData name="Marco Antonio Silva da Mata" userId="6cf6f677f457a952" providerId="LiveId" clId="{C979EA11-90D9-436B-AA7B-14ADA208148B}" dt="2025-11-09T20:16:00.408" v="1552" actId="478"/>
          <ac:spMkLst>
            <pc:docMk/>
            <pc:sldMk cId="792904791" sldId="264"/>
            <ac:spMk id="9" creationId="{9A809F75-E8C0-2AB7-91C3-D68DAE201375}"/>
          </ac:spMkLst>
        </pc:spChg>
        <pc:spChg chg="del">
          <ac:chgData name="Marco Antonio Silva da Mata" userId="6cf6f677f457a952" providerId="LiveId" clId="{C979EA11-90D9-436B-AA7B-14ADA208148B}" dt="2025-11-09T20:16:10.201" v="1559" actId="478"/>
          <ac:spMkLst>
            <pc:docMk/>
            <pc:sldMk cId="792904791" sldId="264"/>
            <ac:spMk id="10" creationId="{D6797C11-551A-6C2E-A5E3-6B1DC8CCE412}"/>
          </ac:spMkLst>
        </pc:spChg>
        <pc:spChg chg="del">
          <ac:chgData name="Marco Antonio Silva da Mata" userId="6cf6f677f457a952" providerId="LiveId" clId="{C979EA11-90D9-436B-AA7B-14ADA208148B}" dt="2025-11-09T20:16:07.558" v="1558" actId="478"/>
          <ac:spMkLst>
            <pc:docMk/>
            <pc:sldMk cId="792904791" sldId="264"/>
            <ac:spMk id="11" creationId="{F0770976-0A0F-6B1F-6271-0CA55408098E}"/>
          </ac:spMkLst>
        </pc:spChg>
        <pc:spChg chg="mod">
          <ac:chgData name="Marco Antonio Silva da Mata" userId="6cf6f677f457a952" providerId="LiveId" clId="{C979EA11-90D9-436B-AA7B-14ADA208148B}" dt="2025-11-09T20:17:42.928" v="1619" actId="1076"/>
          <ac:spMkLst>
            <pc:docMk/>
            <pc:sldMk cId="792904791" sldId="264"/>
            <ac:spMk id="12" creationId="{13F4D400-26A3-D195-1A8B-AD065C6F0FD7}"/>
          </ac:spMkLst>
        </pc:spChg>
        <pc:spChg chg="add del mod">
          <ac:chgData name="Marco Antonio Silva da Mata" userId="6cf6f677f457a952" providerId="LiveId" clId="{C979EA11-90D9-436B-AA7B-14ADA208148B}" dt="2025-11-09T20:16:01.244" v="1553" actId="478"/>
          <ac:spMkLst>
            <pc:docMk/>
            <pc:sldMk cId="792904791" sldId="264"/>
            <ac:spMk id="14" creationId="{8FF22A41-9C2A-69F2-BD1B-E1687D0F7D5E}"/>
          </ac:spMkLst>
        </pc:spChg>
        <pc:spChg chg="add mod">
          <ac:chgData name="Marco Antonio Silva da Mata" userId="6cf6f677f457a952" providerId="LiveId" clId="{C979EA11-90D9-436B-AA7B-14ADA208148B}" dt="2025-11-09T20:23:02.108" v="2023" actId="1076"/>
          <ac:spMkLst>
            <pc:docMk/>
            <pc:sldMk cId="792904791" sldId="264"/>
            <ac:spMk id="16" creationId="{6F873BF0-964B-84E1-EAD7-45EC55D046C1}"/>
          </ac:spMkLst>
        </pc:spChg>
        <pc:spChg chg="add mod">
          <ac:chgData name="Marco Antonio Silva da Mata" userId="6cf6f677f457a952" providerId="LiveId" clId="{C979EA11-90D9-436B-AA7B-14ADA208148B}" dt="2025-11-09T20:22:26.240" v="2018" actId="1076"/>
          <ac:spMkLst>
            <pc:docMk/>
            <pc:sldMk cId="792904791" sldId="264"/>
            <ac:spMk id="17" creationId="{A3594C49-0234-77C7-B294-A51E6C6B8650}"/>
          </ac:spMkLst>
        </pc:spChg>
        <pc:picChg chg="add mod">
          <ac:chgData name="Marco Antonio Silva da Mata" userId="6cf6f677f457a952" providerId="LiveId" clId="{C979EA11-90D9-436B-AA7B-14ADA208148B}" dt="2025-11-09T20:21:34.983" v="1941" actId="1076"/>
          <ac:picMkLst>
            <pc:docMk/>
            <pc:sldMk cId="792904791" sldId="264"/>
            <ac:picMk id="19" creationId="{D0280224-9175-9BFD-FEA2-B3D57C29C663}"/>
          </ac:picMkLst>
        </pc:picChg>
        <pc:picChg chg="del mod">
          <ac:chgData name="Marco Antonio Silva da Mata" userId="6cf6f677f457a952" providerId="LiveId" clId="{C979EA11-90D9-436B-AA7B-14ADA208148B}" dt="2025-11-09T20:15:59.099" v="1551" actId="478"/>
          <ac:picMkLst>
            <pc:docMk/>
            <pc:sldMk cId="792904791" sldId="264"/>
            <ac:picMk id="3074" creationId="{6B789BBA-2306-B72B-F616-567758811B4D}"/>
          </ac:picMkLst>
        </pc:picChg>
        <pc:cxnChg chg="mod">
          <ac:chgData name="Marco Antonio Silva da Mata" userId="6cf6f677f457a952" providerId="LiveId" clId="{C979EA11-90D9-436B-AA7B-14ADA208148B}" dt="2025-11-09T20:18:10.848" v="1791" actId="1076"/>
          <ac:cxnSpMkLst>
            <pc:docMk/>
            <pc:sldMk cId="792904791" sldId="264"/>
            <ac:cxnSpMk id="13" creationId="{04AA6B27-F48E-2EA4-20D1-126880851E7A}"/>
          </ac:cxnSpMkLst>
        </pc:cxnChg>
      </pc:sldChg>
      <pc:sldChg chg="addSp modSp add mod">
        <pc:chgData name="Marco Antonio Silva da Mata" userId="6cf6f677f457a952" providerId="LiveId" clId="{C979EA11-90D9-436B-AA7B-14ADA208148B}" dt="2025-11-09T20:28:55.619" v="2202" actId="1076"/>
        <pc:sldMkLst>
          <pc:docMk/>
          <pc:sldMk cId="2677461537" sldId="273"/>
        </pc:sldMkLst>
        <pc:spChg chg="add mod">
          <ac:chgData name="Marco Antonio Silva da Mata" userId="6cf6f677f457a952" providerId="LiveId" clId="{C979EA11-90D9-436B-AA7B-14ADA208148B}" dt="2025-11-09T20:27:43.798" v="2149" actId="1076"/>
          <ac:spMkLst>
            <pc:docMk/>
            <pc:sldMk cId="2677461537" sldId="273"/>
            <ac:spMk id="2" creationId="{C6AD0224-D4AB-84D4-D124-02459CA0304D}"/>
          </ac:spMkLst>
        </pc:spChg>
        <pc:spChg chg="mod">
          <ac:chgData name="Marco Antonio Silva da Mata" userId="6cf6f677f457a952" providerId="LiveId" clId="{C979EA11-90D9-436B-AA7B-14ADA208148B}" dt="2025-11-09T20:26:48.289" v="2074" actId="20577"/>
          <ac:spMkLst>
            <pc:docMk/>
            <pc:sldMk cId="2677461537" sldId="273"/>
            <ac:spMk id="12" creationId="{7FFB5530-9929-461A-BE0E-E063ABCA2F6B}"/>
          </ac:spMkLst>
        </pc:spChg>
        <pc:picChg chg="add mod">
          <ac:chgData name="Marco Antonio Silva da Mata" userId="6cf6f677f457a952" providerId="LiveId" clId="{C979EA11-90D9-436B-AA7B-14ADA208148B}" dt="2025-11-09T20:28:55.619" v="2202" actId="1076"/>
          <ac:picMkLst>
            <pc:docMk/>
            <pc:sldMk cId="2677461537" sldId="273"/>
            <ac:picMk id="5" creationId="{340E4C5F-F0B8-E6B3-3D26-3A4D075A73E0}"/>
          </ac:picMkLst>
        </pc:picChg>
      </pc:sldChg>
      <pc:sldChg chg="addSp delSp modSp add mod">
        <pc:chgData name="Marco Antonio Silva da Mata" userId="6cf6f677f457a952" providerId="LiveId" clId="{C979EA11-90D9-436B-AA7B-14ADA208148B}" dt="2025-11-09T20:44:14.889" v="2744" actId="1076"/>
        <pc:sldMkLst>
          <pc:docMk/>
          <pc:sldMk cId="627006532" sldId="274"/>
        </pc:sldMkLst>
        <pc:spChg chg="mod">
          <ac:chgData name="Marco Antonio Silva da Mata" userId="6cf6f677f457a952" providerId="LiveId" clId="{C979EA11-90D9-436B-AA7B-14ADA208148B}" dt="2025-11-09T20:28:41.669" v="2200" actId="20577"/>
          <ac:spMkLst>
            <pc:docMk/>
            <pc:sldMk cId="627006532" sldId="274"/>
            <ac:spMk id="2" creationId="{9634E760-A0EB-C72E-21F4-54CE491959D6}"/>
          </ac:spMkLst>
        </pc:spChg>
        <pc:picChg chg="del mod">
          <ac:chgData name="Marco Antonio Silva da Mata" userId="6cf6f677f457a952" providerId="LiveId" clId="{C979EA11-90D9-436B-AA7B-14ADA208148B}" dt="2025-11-09T20:44:06.910" v="2742" actId="478"/>
          <ac:picMkLst>
            <pc:docMk/>
            <pc:sldMk cId="627006532" sldId="274"/>
            <ac:picMk id="5" creationId="{C8A23EDE-2EAB-3EF3-D48E-97FBC4A67A84}"/>
          </ac:picMkLst>
        </pc:picChg>
        <pc:picChg chg="add mod">
          <ac:chgData name="Marco Antonio Silva da Mata" userId="6cf6f677f457a952" providerId="LiveId" clId="{C979EA11-90D9-436B-AA7B-14ADA208148B}" dt="2025-11-09T20:44:14.889" v="2744" actId="1076"/>
          <ac:picMkLst>
            <pc:docMk/>
            <pc:sldMk cId="627006532" sldId="274"/>
            <ac:picMk id="8" creationId="{354474C3-AB2F-83E1-6363-A6904FBF76F5}"/>
          </ac:picMkLst>
        </pc:picChg>
      </pc:sldChg>
      <pc:sldChg chg="addSp delSp modSp add mod">
        <pc:chgData name="Marco Antonio Silva da Mata" userId="6cf6f677f457a952" providerId="LiveId" clId="{C979EA11-90D9-436B-AA7B-14ADA208148B}" dt="2025-11-09T20:40:06.440" v="2699" actId="1076"/>
        <pc:sldMkLst>
          <pc:docMk/>
          <pc:sldMk cId="263289268" sldId="275"/>
        </pc:sldMkLst>
        <pc:spChg chg="mod">
          <ac:chgData name="Marco Antonio Silva da Mata" userId="6cf6f677f457a952" providerId="LiveId" clId="{C979EA11-90D9-436B-AA7B-14ADA208148B}" dt="2025-11-09T20:36:21.399" v="2671" actId="20577"/>
          <ac:spMkLst>
            <pc:docMk/>
            <pc:sldMk cId="263289268" sldId="275"/>
            <ac:spMk id="2" creationId="{0B45A797-6DA4-9E6D-1F5A-CF60AAB10CD5}"/>
          </ac:spMkLst>
        </pc:spChg>
        <pc:spChg chg="mod">
          <ac:chgData name="Marco Antonio Silva da Mata" userId="6cf6f677f457a952" providerId="LiveId" clId="{C979EA11-90D9-436B-AA7B-14ADA208148B}" dt="2025-11-09T20:29:50.889" v="2224" actId="1076"/>
          <ac:spMkLst>
            <pc:docMk/>
            <pc:sldMk cId="263289268" sldId="275"/>
            <ac:spMk id="12" creationId="{8513CA36-1E5D-0DBE-131D-CEF47019A9D9}"/>
          </ac:spMkLst>
        </pc:spChg>
        <pc:picChg chg="del">
          <ac:chgData name="Marco Antonio Silva da Mata" userId="6cf6f677f457a952" providerId="LiveId" clId="{C979EA11-90D9-436B-AA7B-14ADA208148B}" dt="2025-11-09T20:32:12.062" v="2423" actId="478"/>
          <ac:picMkLst>
            <pc:docMk/>
            <pc:sldMk cId="263289268" sldId="275"/>
            <ac:picMk id="5" creationId="{F4B46F18-E100-B1AC-9291-214EB13927EB}"/>
          </ac:picMkLst>
        </pc:picChg>
        <pc:picChg chg="add mod">
          <ac:chgData name="Marco Antonio Silva da Mata" userId="6cf6f677f457a952" providerId="LiveId" clId="{C979EA11-90D9-436B-AA7B-14ADA208148B}" dt="2025-11-09T20:40:06.440" v="2699" actId="1076"/>
          <ac:picMkLst>
            <pc:docMk/>
            <pc:sldMk cId="263289268" sldId="275"/>
            <ac:picMk id="8" creationId="{3260EDE1-B669-CCD9-5D9B-4C1D7E79997B}"/>
          </ac:picMkLst>
        </pc:picChg>
        <pc:picChg chg="add mod">
          <ac:chgData name="Marco Antonio Silva da Mata" userId="6cf6f677f457a952" providerId="LiveId" clId="{C979EA11-90D9-436B-AA7B-14ADA208148B}" dt="2025-11-09T20:39:42.546" v="2696" actId="1076"/>
          <ac:picMkLst>
            <pc:docMk/>
            <pc:sldMk cId="263289268" sldId="275"/>
            <ac:picMk id="10" creationId="{3DB95C90-2E06-B169-9B40-2037ED0087FF}"/>
          </ac:picMkLst>
        </pc:picChg>
        <pc:picChg chg="add mod">
          <ac:chgData name="Marco Antonio Silva da Mata" userId="6cf6f677f457a952" providerId="LiveId" clId="{C979EA11-90D9-436B-AA7B-14ADA208148B}" dt="2025-11-09T20:39:50.379" v="2697" actId="1076"/>
          <ac:picMkLst>
            <pc:docMk/>
            <pc:sldMk cId="263289268" sldId="275"/>
            <ac:picMk id="1026" creationId="{52AAA46B-C72F-20D2-5763-E6294609CB20}"/>
          </ac:picMkLst>
        </pc:picChg>
        <pc:picChg chg="add mod">
          <ac:chgData name="Marco Antonio Silva da Mata" userId="6cf6f677f457a952" providerId="LiveId" clId="{C979EA11-90D9-436B-AA7B-14ADA208148B}" dt="2025-11-09T20:39:42.546" v="2696" actId="1076"/>
          <ac:picMkLst>
            <pc:docMk/>
            <pc:sldMk cId="263289268" sldId="275"/>
            <ac:picMk id="1028" creationId="{281AD9A8-7B71-B465-A1A2-C663CC7CCFE4}"/>
          </ac:picMkLst>
        </pc:picChg>
        <pc:cxnChg chg="mod">
          <ac:chgData name="Marco Antonio Silva da Mata" userId="6cf6f677f457a952" providerId="LiveId" clId="{C979EA11-90D9-436B-AA7B-14ADA208148B}" dt="2025-11-09T20:30:20.279" v="2271" actId="1037"/>
          <ac:cxnSpMkLst>
            <pc:docMk/>
            <pc:sldMk cId="263289268" sldId="275"/>
            <ac:cxnSpMk id="13" creationId="{7C325CB7-9BE5-6CC7-0F50-E100AD0A3182}"/>
          </ac:cxnSpMkLst>
        </pc:cxnChg>
      </pc:sldChg>
      <pc:sldChg chg="addSp delSp modSp add mod">
        <pc:chgData name="Marco Antonio Silva da Mata" userId="6cf6f677f457a952" providerId="LiveId" clId="{C979EA11-90D9-436B-AA7B-14ADA208148B}" dt="2025-11-09T20:43:29.371" v="2741" actId="1076"/>
        <pc:sldMkLst>
          <pc:docMk/>
          <pc:sldMk cId="561940301" sldId="276"/>
        </pc:sldMkLst>
        <pc:spChg chg="mod">
          <ac:chgData name="Marco Antonio Silva da Mata" userId="6cf6f677f457a952" providerId="LiveId" clId="{C979EA11-90D9-436B-AA7B-14ADA208148B}" dt="2025-11-09T20:36:17.039" v="2669" actId="20577"/>
          <ac:spMkLst>
            <pc:docMk/>
            <pc:sldMk cId="561940301" sldId="276"/>
            <ac:spMk id="2" creationId="{77CABADA-93B9-D8C1-BD1C-9DF0250E275B}"/>
          </ac:spMkLst>
        </pc:spChg>
        <pc:spChg chg="mod">
          <ac:chgData name="Marco Antonio Silva da Mata" userId="6cf6f677f457a952" providerId="LiveId" clId="{C979EA11-90D9-436B-AA7B-14ADA208148B}" dt="2025-11-09T20:34:59.609" v="2449" actId="20577"/>
          <ac:spMkLst>
            <pc:docMk/>
            <pc:sldMk cId="561940301" sldId="276"/>
            <ac:spMk id="12" creationId="{BA64336B-0134-4266-AAA1-D8F93412E3BE}"/>
          </ac:spMkLst>
        </pc:spChg>
        <pc:picChg chg="add mod">
          <ac:chgData name="Marco Antonio Silva da Mata" userId="6cf6f677f457a952" providerId="LiveId" clId="{C979EA11-90D9-436B-AA7B-14ADA208148B}" dt="2025-11-09T20:43:05.260" v="2737" actId="1076"/>
          <ac:picMkLst>
            <pc:docMk/>
            <pc:sldMk cId="561940301" sldId="276"/>
            <ac:picMk id="5" creationId="{855F348A-7E3E-55F4-27B6-E0FB9018F8D6}"/>
          </ac:picMkLst>
        </pc:picChg>
        <pc:picChg chg="del">
          <ac:chgData name="Marco Antonio Silva da Mata" userId="6cf6f677f457a952" providerId="LiveId" clId="{C979EA11-90D9-436B-AA7B-14ADA208148B}" dt="2025-11-09T20:40:14.319" v="2702" actId="478"/>
          <ac:picMkLst>
            <pc:docMk/>
            <pc:sldMk cId="561940301" sldId="276"/>
            <ac:picMk id="8" creationId="{4B42B29D-0B1E-2928-BF68-A3BC2D1FFFE0}"/>
          </ac:picMkLst>
        </pc:picChg>
        <pc:picChg chg="add mod">
          <ac:chgData name="Marco Antonio Silva da Mata" userId="6cf6f677f457a952" providerId="LiveId" clId="{C979EA11-90D9-436B-AA7B-14ADA208148B}" dt="2025-11-09T20:43:29.371" v="2741" actId="1076"/>
          <ac:picMkLst>
            <pc:docMk/>
            <pc:sldMk cId="561940301" sldId="276"/>
            <ac:picMk id="10" creationId="{B641894E-6F89-1EE5-ED40-55FEEBF490BE}"/>
          </ac:picMkLst>
        </pc:picChg>
        <pc:picChg chg="del">
          <ac:chgData name="Marco Antonio Silva da Mata" userId="6cf6f677f457a952" providerId="LiveId" clId="{C979EA11-90D9-436B-AA7B-14ADA208148B}" dt="2025-11-09T20:40:13.379" v="2700" actId="478"/>
          <ac:picMkLst>
            <pc:docMk/>
            <pc:sldMk cId="561940301" sldId="276"/>
            <ac:picMk id="1026" creationId="{9EB0F24F-E6ED-8614-4925-6ADC2BB34666}"/>
          </ac:picMkLst>
        </pc:picChg>
        <pc:picChg chg="del">
          <ac:chgData name="Marco Antonio Silva da Mata" userId="6cf6f677f457a952" providerId="LiveId" clId="{C979EA11-90D9-436B-AA7B-14ADA208148B}" dt="2025-11-09T20:40:13.849" v="2701" actId="478"/>
          <ac:picMkLst>
            <pc:docMk/>
            <pc:sldMk cId="561940301" sldId="276"/>
            <ac:picMk id="1028" creationId="{B3E3B773-30D5-2473-4981-E663B61B885A}"/>
          </ac:picMkLst>
        </pc:picChg>
        <pc:picChg chg="add mod">
          <ac:chgData name="Marco Antonio Silva da Mata" userId="6cf6f677f457a952" providerId="LiveId" clId="{C979EA11-90D9-436B-AA7B-14ADA208148B}" dt="2025-11-09T20:43:25.079" v="2740" actId="1076"/>
          <ac:picMkLst>
            <pc:docMk/>
            <pc:sldMk cId="561940301" sldId="276"/>
            <ac:picMk id="2050" creationId="{C549BEAE-EB4E-5457-850B-3A599DA3CA07}"/>
          </ac:picMkLst>
        </pc:picChg>
        <pc:picChg chg="add mod">
          <ac:chgData name="Marco Antonio Silva da Mata" userId="6cf6f677f457a952" providerId="LiveId" clId="{C979EA11-90D9-436B-AA7B-14ADA208148B}" dt="2025-11-09T20:43:01.340" v="2736" actId="1076"/>
          <ac:picMkLst>
            <pc:docMk/>
            <pc:sldMk cId="561940301" sldId="276"/>
            <ac:picMk id="2052" creationId="{D2173F64-34CA-80C3-0672-C7988EE70B2F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cf6f677f457a952/Documentos/CI&#202;NCIA%20DE%20DADOS/Projetos%20-%20Marco/Case%20do%20ITA&#218;/Case%20Cr&#233;dito%20-%20Programa%20de%20Est&#225;gio%20Ita&#250;%20-%20Dado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cf6f677f457a952/Documentos/CI&#202;NCIA%20DE%20DADOS/Projetos%20-%20Marco/Case%20do%20ITA&#218;/Case%20Cr&#233;dito%20-%20Programa%20de%20Est&#225;gio%20Ita&#250;%20-%20Dado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cf6f677f457a952/Documentos/CI&#202;NCIA%20DE%20DADOS/Projetos%20-%20Marco/Case%20do%20ITA&#218;/Case%20Cr&#233;dito%20-%20Programa%20de%20Est&#225;gio%20Ita&#250;%20-%20Dado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cf6f677f457a952/Documentos/CI&#202;NCIA%20DE%20DADOS/Projetos%20-%20Marco/Case%20do%20ITA&#218;/Case%20Cr&#233;dito%20-%20Programa%20de%20Est&#225;gio%20Ita&#250;%20-%20Dado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cf6f677f457a952/Documentos/CI&#202;NCIA%20DE%20DADOS/Projetos%20-%20Marco/Case%20do%20ITA&#218;/Case%20Cr&#233;dito%20-%20Programa%20de%20Est&#225;gio%20Ita&#250;%20-%20Dado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cf6f677f457a952/Documentos/CI&#202;NCIA%20DE%20DADOS/Projetos%20-%20Marco/Case%20do%20ITA&#218;/Case%20Cr&#233;dito%20-%20Programa%20de%20Est&#225;gio%20Ita&#250;%20-%20Dado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cf6f677f457a952/Documentos/CI&#202;NCIA%20DE%20DADOS/Projetos%20-%20Marco/Case%20do%20ITA&#218;/Case%20Cr&#233;dito%20-%20Programa%20de%20Est&#225;gio%20Ita&#250;%20-%20Dado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[Case Crédito - Programa de Estágio Itaú - Dados.xlsx]Planilha1!Tabela dinâmica1</c:name>
    <c:fmtId val="8"/>
  </c:pivotSource>
  <c:chart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12700" cap="rnd">
            <a:solidFill>
              <a:srgbClr val="1F02CE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12700" cap="rnd">
            <a:solidFill>
              <a:srgbClr val="1F02CE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 w="12700" cap="rnd">
            <a:solidFill>
              <a:srgbClr val="1F02CE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solidFill>
            <a:schemeClr val="accent1"/>
          </a:solidFill>
          <a:ln w="12700" cap="rnd">
            <a:solidFill>
              <a:srgbClr val="1F02CE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"/>
        <c:spPr>
          <a:solidFill>
            <a:schemeClr val="accent1"/>
          </a:solidFill>
          <a:ln w="12700" cap="rnd">
            <a:solidFill>
              <a:srgbClr val="1F02CE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"/>
        <c:spPr>
          <a:solidFill>
            <a:schemeClr val="accent1"/>
          </a:solidFill>
          <a:ln w="12700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Planilha1!$B$11:$B$12</c:f>
              <c:strCache>
                <c:ptCount val="1"/>
                <c:pt idx="0">
                  <c:v>0</c:v>
                </c:pt>
              </c:strCache>
            </c:strRef>
          </c:tx>
          <c:spPr>
            <a:ln w="12700" cap="rnd">
              <a:solidFill>
                <a:srgbClr val="1F02CE"/>
              </a:solidFill>
              <a:round/>
            </a:ln>
            <a:effectLst/>
          </c:spPr>
          <c:marker>
            <c:symbol val="none"/>
          </c:marker>
          <c:cat>
            <c:strRef>
              <c:f>Planilha1!$A$13:$A$33</c:f>
              <c:strCache>
                <c:ptCount val="20"/>
                <c:pt idx="0">
                  <c:v>1981</c:v>
                </c:pt>
                <c:pt idx="1">
                  <c:v>1982</c:v>
                </c:pt>
                <c:pt idx="2">
                  <c:v>1983</c:v>
                </c:pt>
                <c:pt idx="3">
                  <c:v>1984</c:v>
                </c:pt>
                <c:pt idx="4">
                  <c:v>1985</c:v>
                </c:pt>
                <c:pt idx="5">
                  <c:v>1986</c:v>
                </c:pt>
                <c:pt idx="6">
                  <c:v>1987</c:v>
                </c:pt>
                <c:pt idx="7">
                  <c:v>1988</c:v>
                </c:pt>
                <c:pt idx="8">
                  <c:v>1989</c:v>
                </c:pt>
                <c:pt idx="9">
                  <c:v>1990</c:v>
                </c:pt>
                <c:pt idx="10">
                  <c:v>1991</c:v>
                </c:pt>
                <c:pt idx="11">
                  <c:v>1992</c:v>
                </c:pt>
                <c:pt idx="12">
                  <c:v>1993</c:v>
                </c:pt>
                <c:pt idx="13">
                  <c:v>1994</c:v>
                </c:pt>
                <c:pt idx="14">
                  <c:v>1995</c:v>
                </c:pt>
                <c:pt idx="15">
                  <c:v>1996</c:v>
                </c:pt>
                <c:pt idx="16">
                  <c:v>1997</c:v>
                </c:pt>
                <c:pt idx="17">
                  <c:v>1998</c:v>
                </c:pt>
                <c:pt idx="18">
                  <c:v>1999</c:v>
                </c:pt>
                <c:pt idx="19">
                  <c:v>2000</c:v>
                </c:pt>
              </c:strCache>
            </c:strRef>
          </c:cat>
          <c:val>
            <c:numRef>
              <c:f>Planilha1!$B$13:$B$33</c:f>
              <c:numCache>
                <c:formatCode>0.00%</c:formatCode>
                <c:ptCount val="20"/>
                <c:pt idx="0">
                  <c:v>0.97172912557527946</c:v>
                </c:pt>
                <c:pt idx="1">
                  <c:v>0.96781461216607656</c:v>
                </c:pt>
                <c:pt idx="2">
                  <c:v>0.95636363636363642</c:v>
                </c:pt>
                <c:pt idx="3">
                  <c:v>0.96529680365296799</c:v>
                </c:pt>
                <c:pt idx="4">
                  <c:v>0.95948434622467771</c:v>
                </c:pt>
                <c:pt idx="5">
                  <c:v>0.92836739178202587</c:v>
                </c:pt>
                <c:pt idx="6">
                  <c:v>0.94822571262361843</c:v>
                </c:pt>
                <c:pt idx="7">
                  <c:v>0.94726879394267172</c:v>
                </c:pt>
                <c:pt idx="8">
                  <c:v>0.92215281114848635</c:v>
                </c:pt>
                <c:pt idx="9">
                  <c:v>0.92507433102081271</c:v>
                </c:pt>
                <c:pt idx="10">
                  <c:v>0.91729135432283859</c:v>
                </c:pt>
                <c:pt idx="11">
                  <c:v>0.92139414163885802</c:v>
                </c:pt>
                <c:pt idx="12">
                  <c:v>0.92085308056872039</c:v>
                </c:pt>
                <c:pt idx="13">
                  <c:v>0.88936959208899879</c:v>
                </c:pt>
                <c:pt idx="14">
                  <c:v>0.91812865497076024</c:v>
                </c:pt>
                <c:pt idx="15">
                  <c:v>0.91618000687049128</c:v>
                </c:pt>
                <c:pt idx="16">
                  <c:v>0.89697885196374627</c:v>
                </c:pt>
                <c:pt idx="17">
                  <c:v>0.91327124563445872</c:v>
                </c:pt>
                <c:pt idx="18">
                  <c:v>0.91148682247637991</c:v>
                </c:pt>
                <c:pt idx="19">
                  <c:v>0.90527182866556832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25D-4D8E-9A75-81BA46E13C18}"/>
            </c:ext>
          </c:extLst>
        </c:ser>
        <c:ser>
          <c:idx val="1"/>
          <c:order val="1"/>
          <c:tx>
            <c:strRef>
              <c:f>Planilha1!$C$11:$C$12</c:f>
              <c:strCache>
                <c:ptCount val="1"/>
                <c:pt idx="0">
                  <c:v>1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25D-4D8E-9A75-81BA46E13C18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25D-4D8E-9A75-81BA46E13C18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25D-4D8E-9A75-81BA46E13C18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25D-4D8E-9A75-81BA46E13C18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25D-4D8E-9A75-81BA46E13C18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25D-4D8E-9A75-81BA46E13C18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25D-4D8E-9A75-81BA46E13C18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25D-4D8E-9A75-81BA46E13C18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25D-4D8E-9A75-81BA46E13C18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25D-4D8E-9A75-81BA46E13C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Planilha1!$A$13:$A$33</c:f>
              <c:strCache>
                <c:ptCount val="20"/>
                <c:pt idx="0">
                  <c:v>1981</c:v>
                </c:pt>
                <c:pt idx="1">
                  <c:v>1982</c:v>
                </c:pt>
                <c:pt idx="2">
                  <c:v>1983</c:v>
                </c:pt>
                <c:pt idx="3">
                  <c:v>1984</c:v>
                </c:pt>
                <c:pt idx="4">
                  <c:v>1985</c:v>
                </c:pt>
                <c:pt idx="5">
                  <c:v>1986</c:v>
                </c:pt>
                <c:pt idx="6">
                  <c:v>1987</c:v>
                </c:pt>
                <c:pt idx="7">
                  <c:v>1988</c:v>
                </c:pt>
                <c:pt idx="8">
                  <c:v>1989</c:v>
                </c:pt>
                <c:pt idx="9">
                  <c:v>1990</c:v>
                </c:pt>
                <c:pt idx="10">
                  <c:v>1991</c:v>
                </c:pt>
                <c:pt idx="11">
                  <c:v>1992</c:v>
                </c:pt>
                <c:pt idx="12">
                  <c:v>1993</c:v>
                </c:pt>
                <c:pt idx="13">
                  <c:v>1994</c:v>
                </c:pt>
                <c:pt idx="14">
                  <c:v>1995</c:v>
                </c:pt>
                <c:pt idx="15">
                  <c:v>1996</c:v>
                </c:pt>
                <c:pt idx="16">
                  <c:v>1997</c:v>
                </c:pt>
                <c:pt idx="17">
                  <c:v>1998</c:v>
                </c:pt>
                <c:pt idx="18">
                  <c:v>1999</c:v>
                </c:pt>
                <c:pt idx="19">
                  <c:v>2000</c:v>
                </c:pt>
              </c:strCache>
            </c:strRef>
          </c:cat>
          <c:val>
            <c:numRef>
              <c:f>Planilha1!$C$13:$C$33</c:f>
              <c:numCache>
                <c:formatCode>0.00%</c:formatCode>
                <c:ptCount val="20"/>
                <c:pt idx="0">
                  <c:v>2.827087442472058E-2</c:v>
                </c:pt>
                <c:pt idx="1">
                  <c:v>3.2185387833923398E-2</c:v>
                </c:pt>
                <c:pt idx="2">
                  <c:v>4.363636363636364E-2</c:v>
                </c:pt>
                <c:pt idx="3">
                  <c:v>3.4703196347031964E-2</c:v>
                </c:pt>
                <c:pt idx="4">
                  <c:v>4.0515653775322284E-2</c:v>
                </c:pt>
                <c:pt idx="5">
                  <c:v>7.163260821797407E-2</c:v>
                </c:pt>
                <c:pt idx="6">
                  <c:v>5.1774287376381616E-2</c:v>
                </c:pt>
                <c:pt idx="7">
                  <c:v>5.2731206057328284E-2</c:v>
                </c:pt>
                <c:pt idx="8">
                  <c:v>7.7847188851513691E-2</c:v>
                </c:pt>
                <c:pt idx="9">
                  <c:v>7.4925668979187315E-2</c:v>
                </c:pt>
                <c:pt idx="10">
                  <c:v>8.2708645677161421E-2</c:v>
                </c:pt>
                <c:pt idx="11">
                  <c:v>7.8605858361142006E-2</c:v>
                </c:pt>
                <c:pt idx="12">
                  <c:v>7.9146919431279619E-2</c:v>
                </c:pt>
                <c:pt idx="13">
                  <c:v>0.11063040791100123</c:v>
                </c:pt>
                <c:pt idx="14">
                  <c:v>8.1871345029239762E-2</c:v>
                </c:pt>
                <c:pt idx="15">
                  <c:v>8.381999312950876E-2</c:v>
                </c:pt>
                <c:pt idx="16">
                  <c:v>0.10302114803625377</c:v>
                </c:pt>
                <c:pt idx="17">
                  <c:v>8.6728754365541325E-2</c:v>
                </c:pt>
                <c:pt idx="18">
                  <c:v>8.851317752362009E-2</c:v>
                </c:pt>
                <c:pt idx="19">
                  <c:v>9.4728171334431635E-2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B-725D-4D8E-9A75-81BA46E13C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45618239"/>
        <c:axId val="945620159"/>
      </c:lineChart>
      <c:catAx>
        <c:axId val="9456182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945620159"/>
        <c:crosses val="autoZero"/>
        <c:auto val="1"/>
        <c:lblAlgn val="ctr"/>
        <c:lblOffset val="100"/>
        <c:noMultiLvlLbl val="0"/>
      </c:catAx>
      <c:valAx>
        <c:axId val="945620159"/>
        <c:scaling>
          <c:orientation val="minMax"/>
          <c:max val="1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9456182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[Case Crédito - Programa de Estágio Itaú - Dados.xlsx]Planilha3!Tabela dinâmica3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Planilha3!$F$8:$F$9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</c:spPr>
          <c:invertIfNegative val="0"/>
          <c:cat>
            <c:strRef>
              <c:f>Planilha3!$E$10:$E$16</c:f>
              <c:strCache>
                <c:ptCount val="6"/>
                <c:pt idx="0">
                  <c:v>01) Foragido</c:v>
                </c:pt>
                <c:pt idx="1">
                  <c:v>02) Muito Crítico</c:v>
                </c:pt>
                <c:pt idx="2">
                  <c:v>03) Crítico</c:v>
                </c:pt>
                <c:pt idx="3">
                  <c:v>04) Cauteloso</c:v>
                </c:pt>
                <c:pt idx="4">
                  <c:v>05) Seguro</c:v>
                </c:pt>
                <c:pt idx="5">
                  <c:v>06) Muito Seguro</c:v>
                </c:pt>
              </c:strCache>
            </c:strRef>
          </c:cat>
          <c:val>
            <c:numRef>
              <c:f>Planilha3!$F$10:$F$16</c:f>
              <c:numCache>
                <c:formatCode>0.00%</c:formatCode>
                <c:ptCount val="6"/>
                <c:pt idx="0">
                  <c:v>0.80083732057416268</c:v>
                </c:pt>
                <c:pt idx="1">
                  <c:v>0.86157826649417857</c:v>
                </c:pt>
                <c:pt idx="2">
                  <c:v>0.92580116129604184</c:v>
                </c:pt>
                <c:pt idx="3">
                  <c:v>0.97356015576962496</c:v>
                </c:pt>
                <c:pt idx="4">
                  <c:v>0.98671562803758506</c:v>
                </c:pt>
                <c:pt idx="5">
                  <c:v>0.9945663531870429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96-4013-80EE-49003349ED17}"/>
            </c:ext>
          </c:extLst>
        </c:ser>
        <c:ser>
          <c:idx val="1"/>
          <c:order val="1"/>
          <c:tx>
            <c:strRef>
              <c:f>Planilha3!$G$8:$G$9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rgbClr val="FF62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7777777777777776E-2"/>
                  <c:y val="9.259259259259258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096-4013-80EE-49003349ED1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Planilha3!$E$10:$E$16</c:f>
              <c:strCache>
                <c:ptCount val="6"/>
                <c:pt idx="0">
                  <c:v>01) Foragido</c:v>
                </c:pt>
                <c:pt idx="1">
                  <c:v>02) Muito Crítico</c:v>
                </c:pt>
                <c:pt idx="2">
                  <c:v>03) Crítico</c:v>
                </c:pt>
                <c:pt idx="3">
                  <c:v>04) Cauteloso</c:v>
                </c:pt>
                <c:pt idx="4">
                  <c:v>05) Seguro</c:v>
                </c:pt>
                <c:pt idx="5">
                  <c:v>06) Muito Seguro</c:v>
                </c:pt>
              </c:strCache>
            </c:strRef>
          </c:cat>
          <c:val>
            <c:numRef>
              <c:f>Planilha3!$G$10:$G$16</c:f>
              <c:numCache>
                <c:formatCode>0.00%</c:formatCode>
                <c:ptCount val="6"/>
                <c:pt idx="0">
                  <c:v>0.19916267942583732</c:v>
                </c:pt>
                <c:pt idx="1">
                  <c:v>0.13842173350582149</c:v>
                </c:pt>
                <c:pt idx="2">
                  <c:v>7.4198838703958159E-2</c:v>
                </c:pt>
                <c:pt idx="3">
                  <c:v>2.6439844230375077E-2</c:v>
                </c:pt>
                <c:pt idx="4">
                  <c:v>1.3284371962414948E-2</c:v>
                </c:pt>
                <c:pt idx="5">
                  <c:v>5.4336468129571576E-3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096-4013-80EE-49003349ED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86399007"/>
        <c:axId val="786389407"/>
      </c:barChart>
      <c:catAx>
        <c:axId val="786399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pt-BR"/>
          </a:p>
        </c:txPr>
        <c:crossAx val="786389407"/>
        <c:crosses val="autoZero"/>
        <c:auto val="1"/>
        <c:lblAlgn val="ctr"/>
        <c:lblOffset val="100"/>
        <c:noMultiLvlLbl val="0"/>
      </c:catAx>
      <c:valAx>
        <c:axId val="786389407"/>
        <c:scaling>
          <c:orientation val="minMax"/>
          <c:max val="1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pt-BR"/>
          </a:p>
        </c:txPr>
        <c:crossAx val="7863990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[Case Crédito - Programa de Estágio Itaú - Dados.xlsx]Planilha3!Tabela dinâmica6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Planilha3!$K$8:$K$9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</c:spPr>
          <c:invertIfNegative val="0"/>
          <c:cat>
            <c:strRef>
              <c:f>Planilha3!$J$10:$J$16</c:f>
              <c:strCache>
                <c:ptCount val="6"/>
                <c:pt idx="0">
                  <c:v>01) Foragido</c:v>
                </c:pt>
                <c:pt idx="1">
                  <c:v>02) Muito Crítico</c:v>
                </c:pt>
                <c:pt idx="2">
                  <c:v>03) Crítico</c:v>
                </c:pt>
                <c:pt idx="3">
                  <c:v>04) Cauteloso</c:v>
                </c:pt>
                <c:pt idx="4">
                  <c:v>05) Seguro</c:v>
                </c:pt>
                <c:pt idx="5">
                  <c:v>06) Muito Seguro</c:v>
                </c:pt>
              </c:strCache>
            </c:strRef>
          </c:cat>
          <c:val>
            <c:numRef>
              <c:f>Planilha3!$K$10:$K$16</c:f>
              <c:numCache>
                <c:formatCode>0.00%</c:formatCode>
                <c:ptCount val="6"/>
                <c:pt idx="0">
                  <c:v>0.80403458213256485</c:v>
                </c:pt>
                <c:pt idx="1">
                  <c:v>0.84773662551440332</c:v>
                </c:pt>
                <c:pt idx="2">
                  <c:v>0.88648648648648654</c:v>
                </c:pt>
                <c:pt idx="3">
                  <c:v>0.97038724373576313</c:v>
                </c:pt>
                <c:pt idx="4">
                  <c:v>0.97832817337461297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B7-4952-9285-767933127557}"/>
            </c:ext>
          </c:extLst>
        </c:ser>
        <c:ser>
          <c:idx val="1"/>
          <c:order val="1"/>
          <c:tx>
            <c:strRef>
              <c:f>Planilha3!$L$8:$L$9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rgbClr val="FF62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4999999999999974E-2"/>
                  <c:y val="-8.4875562720133283E-1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BB7-4952-9285-76793312755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pt-BR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Planilha3!$J$10:$J$16</c:f>
              <c:strCache>
                <c:ptCount val="6"/>
                <c:pt idx="0">
                  <c:v>01) Foragido</c:v>
                </c:pt>
                <c:pt idx="1">
                  <c:v>02) Muito Crítico</c:v>
                </c:pt>
                <c:pt idx="2">
                  <c:v>03) Crítico</c:v>
                </c:pt>
                <c:pt idx="3">
                  <c:v>04) Cauteloso</c:v>
                </c:pt>
                <c:pt idx="4">
                  <c:v>05) Seguro</c:v>
                </c:pt>
                <c:pt idx="5">
                  <c:v>06) Muito Seguro</c:v>
                </c:pt>
              </c:strCache>
            </c:strRef>
          </c:cat>
          <c:val>
            <c:numRef>
              <c:f>Planilha3!$L$10:$L$16</c:f>
              <c:numCache>
                <c:formatCode>0.00%</c:formatCode>
                <c:ptCount val="6"/>
                <c:pt idx="0">
                  <c:v>0.19596541786743515</c:v>
                </c:pt>
                <c:pt idx="1">
                  <c:v>0.15226337448559671</c:v>
                </c:pt>
                <c:pt idx="2">
                  <c:v>0.11351351351351352</c:v>
                </c:pt>
                <c:pt idx="3">
                  <c:v>2.9612756264236904E-2</c:v>
                </c:pt>
                <c:pt idx="4">
                  <c:v>2.1671826625386997E-2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BB7-4952-9285-7679331275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41774223"/>
        <c:axId val="1641767983"/>
      </c:barChart>
      <c:catAx>
        <c:axId val="16417742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pt-BR"/>
          </a:p>
        </c:txPr>
        <c:crossAx val="1641767983"/>
        <c:crosses val="autoZero"/>
        <c:auto val="1"/>
        <c:lblAlgn val="ctr"/>
        <c:lblOffset val="100"/>
        <c:noMultiLvlLbl val="0"/>
      </c:catAx>
      <c:valAx>
        <c:axId val="1641767983"/>
        <c:scaling>
          <c:orientation val="minMax"/>
          <c:max val="1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pt-BR"/>
          </a:p>
        </c:txPr>
        <c:crossAx val="16417742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[Case Crédito - Programa de Estágio Itaú - Dados.xlsx]Planilha3!Tabela dinâmica4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Planilha3!$F$22:$F$23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</c:spPr>
          <c:invertIfNegative val="0"/>
          <c:cat>
            <c:strRef>
              <c:f>Planilha3!$E$24:$E$29</c:f>
              <c:strCache>
                <c:ptCount val="5"/>
                <c:pt idx="0">
                  <c:v>01) Sem Histórico</c:v>
                </c:pt>
                <c:pt idx="1">
                  <c:v>02) Atraso Recente</c:v>
                </c:pt>
                <c:pt idx="2">
                  <c:v>03) Alto Risco</c:v>
                </c:pt>
                <c:pt idx="3">
                  <c:v>04) Médio Risco</c:v>
                </c:pt>
                <c:pt idx="4">
                  <c:v>05) Baixo Risco</c:v>
                </c:pt>
              </c:strCache>
            </c:strRef>
          </c:cat>
          <c:val>
            <c:numRef>
              <c:f>Planilha3!$F$24:$F$29</c:f>
              <c:numCache>
                <c:formatCode>0.00%</c:formatCode>
                <c:ptCount val="5"/>
                <c:pt idx="0">
                  <c:v>0.90990685859441156</c:v>
                </c:pt>
                <c:pt idx="1">
                  <c:v>0.84471289853964371</c:v>
                </c:pt>
                <c:pt idx="2">
                  <c:v>0.91553544494720962</c:v>
                </c:pt>
                <c:pt idx="3">
                  <c:v>0.94930875576036866</c:v>
                </c:pt>
                <c:pt idx="4">
                  <c:v>0.97862960785960196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30-4C6A-B29D-058D6B32C5F5}"/>
            </c:ext>
          </c:extLst>
        </c:ser>
        <c:ser>
          <c:idx val="1"/>
          <c:order val="1"/>
          <c:tx>
            <c:strRef>
              <c:f>Planilha3!$G$22:$G$23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rgbClr val="FF6200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3.6111111111111108E-2"/>
                  <c:y val="-8.4875562720133283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DD2-48B0-8A15-066AFBD3C4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Planilha3!$E$24:$E$29</c:f>
              <c:strCache>
                <c:ptCount val="5"/>
                <c:pt idx="0">
                  <c:v>01) Sem Histórico</c:v>
                </c:pt>
                <c:pt idx="1">
                  <c:v>02) Atraso Recente</c:v>
                </c:pt>
                <c:pt idx="2">
                  <c:v>03) Alto Risco</c:v>
                </c:pt>
                <c:pt idx="3">
                  <c:v>04) Médio Risco</c:v>
                </c:pt>
                <c:pt idx="4">
                  <c:v>05) Baixo Risco</c:v>
                </c:pt>
              </c:strCache>
            </c:strRef>
          </c:cat>
          <c:val>
            <c:numRef>
              <c:f>Planilha3!$G$24:$G$29</c:f>
              <c:numCache>
                <c:formatCode>0.00%</c:formatCode>
                <c:ptCount val="5"/>
                <c:pt idx="0">
                  <c:v>9.0093141405588481E-2</c:v>
                </c:pt>
                <c:pt idx="1">
                  <c:v>0.15528710146035629</c:v>
                </c:pt>
                <c:pt idx="2">
                  <c:v>8.4464555052790352E-2</c:v>
                </c:pt>
                <c:pt idx="3">
                  <c:v>5.0691244239631339E-2</c:v>
                </c:pt>
                <c:pt idx="4">
                  <c:v>2.1370392140398018E-2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30-4C6A-B29D-058D6B32C5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61777951"/>
        <c:axId val="1561772191"/>
      </c:barChart>
      <c:catAx>
        <c:axId val="1561777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61772191"/>
        <c:crosses val="autoZero"/>
        <c:auto val="1"/>
        <c:lblAlgn val="ctr"/>
        <c:lblOffset val="100"/>
        <c:noMultiLvlLbl val="0"/>
      </c:catAx>
      <c:valAx>
        <c:axId val="1561772191"/>
        <c:scaling>
          <c:orientation val="minMax"/>
          <c:max val="1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61777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[Case Crédito - Programa de Estágio Itaú - Dados.xlsx]Planilha3!Tabela dinâmica7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Planilha3!$K$22:$K$23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</c:spPr>
          <c:invertIfNegative val="0"/>
          <c:cat>
            <c:strRef>
              <c:f>Planilha3!$J$24:$J$29</c:f>
              <c:strCache>
                <c:ptCount val="5"/>
                <c:pt idx="0">
                  <c:v>01) Sem Histórico</c:v>
                </c:pt>
                <c:pt idx="1">
                  <c:v>02) Atraso Recente</c:v>
                </c:pt>
                <c:pt idx="2">
                  <c:v>03) Alto Risco</c:v>
                </c:pt>
                <c:pt idx="3">
                  <c:v>04) Médio Risco</c:v>
                </c:pt>
                <c:pt idx="4">
                  <c:v>05) Baixo Risco</c:v>
                </c:pt>
              </c:strCache>
            </c:strRef>
          </c:cat>
          <c:val>
            <c:numRef>
              <c:f>Planilha3!$K$24:$K$29</c:f>
              <c:numCache>
                <c:formatCode>0.00%</c:formatCode>
                <c:ptCount val="5"/>
                <c:pt idx="0">
                  <c:v>0.91603053435114501</c:v>
                </c:pt>
                <c:pt idx="1">
                  <c:v>0.79826086956521736</c:v>
                </c:pt>
                <c:pt idx="2">
                  <c:v>0.91242937853107342</c:v>
                </c:pt>
                <c:pt idx="3">
                  <c:v>0.92666666666666664</c:v>
                </c:pt>
                <c:pt idx="4">
                  <c:v>0.96442185514612455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78-4636-98C7-668F0EE4D29A}"/>
            </c:ext>
          </c:extLst>
        </c:ser>
        <c:ser>
          <c:idx val="1"/>
          <c:order val="1"/>
          <c:tx>
            <c:strRef>
              <c:f>Planilha3!$L$22:$L$23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rgbClr val="FF6200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3.8888888888888841E-2"/>
                  <c:y val="-8.4875562720133283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E90-4138-A106-F91831AC78D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Planilha3!$J$24:$J$29</c:f>
              <c:strCache>
                <c:ptCount val="5"/>
                <c:pt idx="0">
                  <c:v>01) Sem Histórico</c:v>
                </c:pt>
                <c:pt idx="1">
                  <c:v>02) Atraso Recente</c:v>
                </c:pt>
                <c:pt idx="2">
                  <c:v>03) Alto Risco</c:v>
                </c:pt>
                <c:pt idx="3">
                  <c:v>04) Médio Risco</c:v>
                </c:pt>
                <c:pt idx="4">
                  <c:v>05) Baixo Risco</c:v>
                </c:pt>
              </c:strCache>
            </c:strRef>
          </c:cat>
          <c:val>
            <c:numRef>
              <c:f>Planilha3!$L$24:$L$29</c:f>
              <c:numCache>
                <c:formatCode>0.00%</c:formatCode>
                <c:ptCount val="5"/>
                <c:pt idx="0">
                  <c:v>8.3969465648854963E-2</c:v>
                </c:pt>
                <c:pt idx="1">
                  <c:v>0.20173913043478262</c:v>
                </c:pt>
                <c:pt idx="2">
                  <c:v>8.7570621468926552E-2</c:v>
                </c:pt>
                <c:pt idx="3">
                  <c:v>7.3333333333333334E-2</c:v>
                </c:pt>
                <c:pt idx="4">
                  <c:v>3.5578144853875476E-2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78-4636-98C7-668F0EE4D2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82614927"/>
        <c:axId val="1282615407"/>
      </c:barChart>
      <c:catAx>
        <c:axId val="12826149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282615407"/>
        <c:crosses val="autoZero"/>
        <c:auto val="1"/>
        <c:lblAlgn val="ctr"/>
        <c:lblOffset val="100"/>
        <c:noMultiLvlLbl val="0"/>
      </c:catAx>
      <c:valAx>
        <c:axId val="1282615407"/>
        <c:scaling>
          <c:orientation val="minMax"/>
          <c:max val="1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2826149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[Case Crédito - Programa de Estágio Itaú - Dados.xlsx]Planilha3!Tabela dinâmica5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Planilha3!$F$35:$F$36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</c:spPr>
          <c:invertIfNegative val="0"/>
          <c:cat>
            <c:strRef>
              <c:f>Planilha3!$E$37:$E$40</c:f>
              <c:strCache>
                <c:ptCount val="3"/>
                <c:pt idx="0">
                  <c:v>Beco Diagonal</c:v>
                </c:pt>
                <c:pt idx="1">
                  <c:v>Hogsmeade</c:v>
                </c:pt>
                <c:pt idx="2">
                  <c:v>Travessa do Tranco</c:v>
                </c:pt>
              </c:strCache>
            </c:strRef>
          </c:cat>
          <c:val>
            <c:numRef>
              <c:f>Planilha3!$F$37:$F$40</c:f>
              <c:numCache>
                <c:formatCode>0.00%</c:formatCode>
                <c:ptCount val="3"/>
                <c:pt idx="0">
                  <c:v>0.95119089229540121</c:v>
                </c:pt>
                <c:pt idx="1">
                  <c:v>0.9193334595720507</c:v>
                </c:pt>
                <c:pt idx="2">
                  <c:v>0.85850945494994435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D6-405A-B51C-18A27D5B78BA}"/>
            </c:ext>
          </c:extLst>
        </c:ser>
        <c:ser>
          <c:idx val="1"/>
          <c:order val="1"/>
          <c:tx>
            <c:strRef>
              <c:f>Planilha3!$G$35:$G$36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rgbClr val="FF6200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2.7777777777777776E-2"/>
                  <c:y val="9.259259259259258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16D-4EDA-A328-B843B5344AD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Planilha3!$E$37:$E$40</c:f>
              <c:strCache>
                <c:ptCount val="3"/>
                <c:pt idx="0">
                  <c:v>Beco Diagonal</c:v>
                </c:pt>
                <c:pt idx="1">
                  <c:v>Hogsmeade</c:v>
                </c:pt>
                <c:pt idx="2">
                  <c:v>Travessa do Tranco</c:v>
                </c:pt>
              </c:strCache>
            </c:strRef>
          </c:cat>
          <c:val>
            <c:numRef>
              <c:f>Planilha3!$G$37:$G$40</c:f>
              <c:numCache>
                <c:formatCode>0.00%</c:formatCode>
                <c:ptCount val="3"/>
                <c:pt idx="0">
                  <c:v>4.8809107704598793E-2</c:v>
                </c:pt>
                <c:pt idx="1">
                  <c:v>8.0666540427949254E-2</c:v>
                </c:pt>
                <c:pt idx="2">
                  <c:v>0.14149054505005562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D6-405A-B51C-18A27D5B78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32890351"/>
        <c:axId val="1532890831"/>
      </c:barChart>
      <c:catAx>
        <c:axId val="153289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32890831"/>
        <c:crosses val="autoZero"/>
        <c:auto val="1"/>
        <c:lblAlgn val="ctr"/>
        <c:lblOffset val="100"/>
        <c:noMultiLvlLbl val="0"/>
      </c:catAx>
      <c:valAx>
        <c:axId val="1532890831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328903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[Case Crédito - Programa de Estágio Itaú - Dados.xlsx]Planilha3!Tabela dinâmica8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Planilha3!$K$35:$K$36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</c:spPr>
          <c:invertIfNegative val="0"/>
          <c:cat>
            <c:strRef>
              <c:f>Planilha3!$J$37:$J$40</c:f>
              <c:strCache>
                <c:ptCount val="3"/>
                <c:pt idx="0">
                  <c:v>Beco Diagonal</c:v>
                </c:pt>
                <c:pt idx="1">
                  <c:v>Hogsmeade</c:v>
                </c:pt>
                <c:pt idx="2">
                  <c:v>Travessa do Tranco</c:v>
                </c:pt>
              </c:strCache>
            </c:strRef>
          </c:cat>
          <c:val>
            <c:numRef>
              <c:f>Planilha3!$K$37:$K$40</c:f>
              <c:numCache>
                <c:formatCode>0.00%</c:formatCode>
                <c:ptCount val="3"/>
                <c:pt idx="0">
                  <c:v>0.92694422623723483</c:v>
                </c:pt>
                <c:pt idx="1">
                  <c:v>0.90419947506561682</c:v>
                </c:pt>
                <c:pt idx="2">
                  <c:v>0.83715012722646309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9C-4402-9CEB-91404155783E}"/>
            </c:ext>
          </c:extLst>
        </c:ser>
        <c:ser>
          <c:idx val="1"/>
          <c:order val="1"/>
          <c:tx>
            <c:strRef>
              <c:f>Planilha3!$L$35:$L$36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rgbClr val="FF6200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1.3888888888888888E-2"/>
                  <c:y val="-4.62962962962971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6DC-4B7E-91FD-A8C2CED3CD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Planilha3!$J$37:$J$40</c:f>
              <c:strCache>
                <c:ptCount val="3"/>
                <c:pt idx="0">
                  <c:v>Beco Diagonal</c:v>
                </c:pt>
                <c:pt idx="1">
                  <c:v>Hogsmeade</c:v>
                </c:pt>
                <c:pt idx="2">
                  <c:v>Travessa do Tranco</c:v>
                </c:pt>
              </c:strCache>
            </c:strRef>
          </c:cat>
          <c:val>
            <c:numRef>
              <c:f>Planilha3!$L$37:$L$40</c:f>
              <c:numCache>
                <c:formatCode>0.00%</c:formatCode>
                <c:ptCount val="3"/>
                <c:pt idx="0">
                  <c:v>7.3055773762765119E-2</c:v>
                </c:pt>
                <c:pt idx="1">
                  <c:v>9.5800524934383208E-2</c:v>
                </c:pt>
                <c:pt idx="2">
                  <c:v>0.16284987277353691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9C-4402-9CEB-9140415578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23737119"/>
        <c:axId val="1723737599"/>
      </c:barChart>
      <c:catAx>
        <c:axId val="17237371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23737599"/>
        <c:crosses val="autoZero"/>
        <c:auto val="1"/>
        <c:lblAlgn val="ctr"/>
        <c:lblOffset val="100"/>
        <c:noMultiLvlLbl val="0"/>
      </c:catAx>
      <c:valAx>
        <c:axId val="1723737599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237371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68403-06C1-4FE6-A358-23E3929CBA71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2B440F-F997-4A71-9565-308E2C5E48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9585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B440F-F997-4A71-9565-308E2C5E487F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5241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D832F2-8024-19CB-E467-DA195446F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F69256-82E9-4AAB-04C6-8E830780A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858961-DAAE-E418-6EB1-7924C3C9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14F5-301F-410A-90BE-9FD5642F0285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8F0729-65DA-66AC-B1EF-9AAE0E2F9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7F98E7-74B8-67AE-5B00-4E167154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E65E9-FD9C-46C9-A7AD-830A3853F6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487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152E0C-C38A-F5B9-CA59-CE6EB7304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078673-A0A0-3B1B-F6FD-90D6BA80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3704C5-CC8E-AF37-793F-1894996F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14F5-301F-410A-90BE-9FD5642F0285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6D1BDC-56C2-8D38-5CD1-DC45D01C3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D82C1F-B154-25C9-7C4F-F118C27D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E65E9-FD9C-46C9-A7AD-830A3853F6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3418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A8F77-2CB2-4B1A-27ED-51D0ED637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7F977A-9A26-7710-586A-51C8389B6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52E87F-62FF-BAA8-28EF-A7E3E1445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14F5-301F-410A-90BE-9FD5642F0285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E98967-2887-EC31-F45E-09ABFCA88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DB9F5E-AC1B-EB38-EC41-CF809EE25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E65E9-FD9C-46C9-A7AD-830A3853F6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56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D86CCF-B57C-DDBF-63BA-C9BE39134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5DBF81-640B-CDFD-7DEE-81C6306B67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1A698DD-8D7F-D494-362F-44AFB1711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BF6371-4B39-28E6-7887-DE02A8477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14F5-301F-410A-90BE-9FD5642F0285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D8019A-8EB5-AAED-26B1-650DF6C92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B4A996-02AD-D028-7CD3-4CF589A25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E65E9-FD9C-46C9-A7AD-830A3853F6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2726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3C7CE7-FC2F-2BD5-125D-F1EEA89A9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67A062-E890-C96E-2C36-EE623A5AB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27DDE6-2F9B-4919-DFB9-6566C376D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54FDAFE-990E-3A9F-94CD-A5B7B69F48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9B1051D-20D4-6FE2-C52A-28DDDFA1A1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C494348-1DE6-43F6-0C35-87EF5065D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14F5-301F-410A-90BE-9FD5642F0285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B253E90-9FCE-C464-CAA5-C1C69CA81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C27EEA-92CF-160F-E3BD-9D0C5751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E65E9-FD9C-46C9-A7AD-830A3853F6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9056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7877D-5727-2522-65CD-50118EDF4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A99946D-2EA5-315D-27E6-105B0E373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14F5-301F-410A-90BE-9FD5642F0285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AA6D1AB-11A4-640C-1AF4-2117E97E4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3BD49EE-AB96-87E5-B13A-223DBBED5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E65E9-FD9C-46C9-A7AD-830A3853F6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102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8EC0196-5109-683A-2630-D8B9E6A38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14F5-301F-410A-90BE-9FD5642F0285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FEA356B-AFD4-0D8E-B340-1E81D4C8D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B9CB4DF-3524-4317-E2C0-134211518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E65E9-FD9C-46C9-A7AD-830A3853F6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1903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AE6476-3759-4D65-8BA2-BDA5D5C38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E80EAE-ADA1-25A7-832A-577A6D8ED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2FC06B3-0709-5AA1-DCE0-C66FA443A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A02072-7844-C574-C521-279F37EF6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14F5-301F-410A-90BE-9FD5642F0285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A8FA29-E4B9-A1A5-A709-B513112D1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4CFE5D8-7F05-43BF-1208-529441D9B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E65E9-FD9C-46C9-A7AD-830A3853F6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877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4B423-AA2E-E1B1-56C9-82A283B67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A942663-570C-BCD8-27E6-94AF779596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77A24F-40DD-2A1A-BE4C-744062E16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06AB6B-B402-BCC1-D4D4-F084A3CA5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14F5-301F-410A-90BE-9FD5642F0285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0D20E7-53D7-5BC8-90BA-C87E49B01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49AE08-BF36-2A6C-F823-1831EFCA8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E65E9-FD9C-46C9-A7AD-830A3853F6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4068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AAF928-FFA1-BCC9-ED9C-91EB376A6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55D2112-6B44-0486-EB4B-6AE940DA7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4F4E73-FA4B-2258-D0EC-79A107213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14F5-301F-410A-90BE-9FD5642F0285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51D86B-6BD5-14C4-87D0-D174CEC41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4DF3BE-6D22-858C-33F8-B4CE3F4A3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E65E9-FD9C-46C9-A7AD-830A3853F6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2478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C533DF3-78D9-0A07-F712-DBFABCB956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06F4EA6-D123-B817-A995-7A65EEB07B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74CC03-8238-0700-613C-1E0D4899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714F5-301F-410A-90BE-9FD5642F0285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4F8BC9-993E-0360-FBA6-8731931CF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17EEF8-3292-81E5-ABC8-696D05BE3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E65E9-FD9C-46C9-A7AD-830A3853F6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9396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8685356-5E25-383C-DB52-4B79BD8CB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28CF7DD-F263-4AEF-26F2-030B6F0C2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358C59-3D9F-38F0-876A-9EFFDDCAFC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714F5-301F-410A-90BE-9FD5642F0285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899B93-9270-2EBD-B292-42052BC994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2FD51D-6507-99FB-676E-7247DA858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7E65E9-FD9C-46C9-A7AD-830A3853F6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1713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taú Unibanco – Wikipédia, a enciclopédia livre">
            <a:extLst>
              <a:ext uri="{FF2B5EF4-FFF2-40B4-BE49-F238E27FC236}">
                <a16:creationId xmlns:a16="http://schemas.microsoft.com/office/drawing/2014/main" id="{246BD5FE-591B-8FBA-B496-51840BCCD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B8BB84F3-4F8A-FE57-E950-B7E81D652E71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5AFE116E-C0C7-4BF0-4416-6B852E953626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02B967D-AC36-7164-9A6B-060B25F2A0DA}"/>
              </a:ext>
            </a:extLst>
          </p:cNvPr>
          <p:cNvSpPr txBox="1"/>
          <p:nvPr/>
        </p:nvSpPr>
        <p:spPr>
          <a:xfrm>
            <a:off x="1847088" y="2081922"/>
            <a:ext cx="7836408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FF62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Case Banco </a:t>
            </a:r>
            <a:r>
              <a:rPr lang="pt-BR" sz="4000" b="1" dirty="0" err="1">
                <a:solidFill>
                  <a:srgbClr val="FF62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Gringotes</a:t>
            </a:r>
            <a:r>
              <a:rPr lang="pt-BR" sz="4000" b="1" dirty="0">
                <a:solidFill>
                  <a:srgbClr val="FF62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Financiamento de Bens Mágicos</a:t>
            </a:r>
          </a:p>
          <a:p>
            <a:endParaRPr lang="pt-BR" dirty="0"/>
          </a:p>
          <a:p>
            <a:pPr algn="r"/>
            <a:r>
              <a:rPr lang="pt-BR" i="1" dirty="0">
                <a:solidFill>
                  <a:srgbClr val="FF62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-Estágio Políticas de Crédito-</a:t>
            </a:r>
          </a:p>
          <a:p>
            <a:r>
              <a:rPr lang="pt-BR" i="1" dirty="0">
                <a:solidFill>
                  <a:srgbClr val="FF62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Marco Antonio Silva da Mata</a:t>
            </a:r>
          </a:p>
        </p:txBody>
      </p:sp>
    </p:spTree>
    <p:extLst>
      <p:ext uri="{BB962C8B-B14F-4D97-AF65-F5344CB8AC3E}">
        <p14:creationId xmlns:p14="http://schemas.microsoft.com/office/powerpoint/2010/main" val="3536262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taú Unibanco – Wikipédia, a enciclopédia livre">
            <a:extLst>
              <a:ext uri="{FF2B5EF4-FFF2-40B4-BE49-F238E27FC236}">
                <a16:creationId xmlns:a16="http://schemas.microsoft.com/office/drawing/2014/main" id="{CFF59CAD-156F-0B9B-C8D3-506D155D1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3076A19E-3CB9-A0E1-3193-5645C212F76C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EABA9517-3E5D-ADF1-2A0B-19CAC14F53F8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BCD5EB8-B0BC-4010-3767-C0673F4D191F}"/>
              </a:ext>
            </a:extLst>
          </p:cNvPr>
          <p:cNvSpPr txBox="1"/>
          <p:nvPr/>
        </p:nvSpPr>
        <p:spPr>
          <a:xfrm>
            <a:off x="537972" y="440698"/>
            <a:ext cx="3277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Hobbies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D26C7A0-A9E6-08E6-416A-3F2C74928119}"/>
              </a:ext>
            </a:extLst>
          </p:cNvPr>
          <p:cNvSpPr txBox="1"/>
          <p:nvPr/>
        </p:nvSpPr>
        <p:spPr>
          <a:xfrm>
            <a:off x="537972" y="3232897"/>
            <a:ext cx="2742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Qualidades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5DFBB72-7AFE-7FE8-B2D5-4EF4E97308FA}"/>
              </a:ext>
            </a:extLst>
          </p:cNvPr>
          <p:cNvSpPr txBox="1"/>
          <p:nvPr/>
        </p:nvSpPr>
        <p:spPr>
          <a:xfrm>
            <a:off x="4777740" y="440698"/>
            <a:ext cx="2742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Experiências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7CE9D98-1022-CB57-3DB7-8E0C520A144A}"/>
              </a:ext>
            </a:extLst>
          </p:cNvPr>
          <p:cNvSpPr txBox="1"/>
          <p:nvPr/>
        </p:nvSpPr>
        <p:spPr>
          <a:xfrm>
            <a:off x="538733" y="1170083"/>
            <a:ext cx="31942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Ouvir música;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Assistir séries de ficção/Animes;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Jogar Campo Minado.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80366F2-3C0D-FEC9-6711-F6E5F3A1B29F}"/>
              </a:ext>
            </a:extLst>
          </p:cNvPr>
          <p:cNvSpPr txBox="1"/>
          <p:nvPr/>
        </p:nvSpPr>
        <p:spPr>
          <a:xfrm>
            <a:off x="565306" y="3962282"/>
            <a:ext cx="32230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Trabalho em equipe;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Busca constante por c</a:t>
            </a:r>
            <a:r>
              <a:rPr lang="pt-BR" dirty="0">
                <a:effectLst/>
              </a:rPr>
              <a:t>onhecimento e desafios;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</a:t>
            </a:r>
            <a:r>
              <a:rPr lang="pt-BR" dirty="0">
                <a:effectLst/>
              </a:rPr>
              <a:t>riativo</a:t>
            </a:r>
            <a:r>
              <a:rPr lang="pt-BR" dirty="0"/>
              <a:t> na resolução de problemas.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54236E1-16F1-4F57-2CE2-B903B3A4B55C}"/>
              </a:ext>
            </a:extLst>
          </p:cNvPr>
          <p:cNvSpPr txBox="1"/>
          <p:nvPr/>
        </p:nvSpPr>
        <p:spPr>
          <a:xfrm>
            <a:off x="4242725" y="1151446"/>
            <a:ext cx="370645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Rocket Design – UFABC | </a:t>
            </a:r>
            <a:r>
              <a:rPr lang="pt-BR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2024</a:t>
            </a:r>
            <a:r>
              <a:rPr lang="pt-B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</a:t>
            </a:r>
            <a:r>
              <a:rPr lang="pt-BR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2025</a:t>
            </a:r>
            <a:r>
              <a:rPr lang="pt-B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Green Team Hackers Club – UFABC | </a:t>
            </a:r>
            <a:r>
              <a:rPr lang="en-U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2024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</a:t>
            </a:r>
            <a:r>
              <a:rPr lang="en-US" sz="1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Atualmente</a:t>
            </a:r>
            <a:r>
              <a:rPr lang="en-U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Itaú Unibanco (Cartões | BT Satisfação e Jornada do Cliente) | </a:t>
            </a:r>
            <a:r>
              <a:rPr lang="pt-BR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Julho 2024 </a:t>
            </a:r>
            <a:r>
              <a:rPr lang="pt-B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– </a:t>
            </a:r>
            <a:r>
              <a:rPr lang="pt-BR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Julho 2025</a:t>
            </a:r>
            <a:r>
              <a:rPr lang="pt-BR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EFDB90C8-DF99-B86F-0F76-9B76D2FCC632}"/>
              </a:ext>
            </a:extLst>
          </p:cNvPr>
          <p:cNvCxnSpPr>
            <a:cxnSpLocks/>
          </p:cNvCxnSpPr>
          <p:nvPr/>
        </p:nvCxnSpPr>
        <p:spPr>
          <a:xfrm>
            <a:off x="4242816" y="265176"/>
            <a:ext cx="0" cy="6318504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F46836A1-946E-60C7-638F-44CD65568D0D}"/>
              </a:ext>
            </a:extLst>
          </p:cNvPr>
          <p:cNvCxnSpPr>
            <a:cxnSpLocks/>
          </p:cNvCxnSpPr>
          <p:nvPr/>
        </p:nvCxnSpPr>
        <p:spPr>
          <a:xfrm>
            <a:off x="7949276" y="265173"/>
            <a:ext cx="0" cy="6318504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D14F8B5-CE90-BE62-A3EB-E6F0615BF7D6}"/>
              </a:ext>
            </a:extLst>
          </p:cNvPr>
          <p:cNvSpPr txBox="1"/>
          <p:nvPr/>
        </p:nvSpPr>
        <p:spPr>
          <a:xfrm>
            <a:off x="8752379" y="440698"/>
            <a:ext cx="2742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Ferramentas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C295FA8-7C48-413B-2F39-27EDBF045FD1}"/>
              </a:ext>
            </a:extLst>
          </p:cNvPr>
          <p:cNvSpPr txBox="1"/>
          <p:nvPr/>
        </p:nvSpPr>
        <p:spPr>
          <a:xfrm>
            <a:off x="8459103" y="1151446"/>
            <a:ext cx="32230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Pacote Office;</a:t>
            </a:r>
          </a:p>
          <a:p>
            <a:r>
              <a:rPr lang="pt-BR" dirty="0"/>
              <a:t>Python;</a:t>
            </a:r>
          </a:p>
          <a:p>
            <a:r>
              <a:rPr lang="pt-BR" dirty="0"/>
              <a:t>SQL;</a:t>
            </a:r>
          </a:p>
          <a:p>
            <a:r>
              <a:rPr lang="pt-BR" dirty="0"/>
              <a:t>AWS </a:t>
            </a:r>
            <a:r>
              <a:rPr lang="pt-BR" dirty="0" err="1"/>
              <a:t>Quicksight</a:t>
            </a:r>
            <a:r>
              <a:rPr lang="pt-BR" dirty="0"/>
              <a:t>;</a:t>
            </a:r>
          </a:p>
          <a:p>
            <a:r>
              <a:rPr lang="pt-BR" dirty="0"/>
              <a:t>AWS Athena;</a:t>
            </a:r>
          </a:p>
          <a:p>
            <a:r>
              <a:rPr lang="pt-BR" dirty="0" err="1"/>
              <a:t>Databricks</a:t>
            </a:r>
            <a:r>
              <a:rPr lang="pt-BR" dirty="0"/>
              <a:t>;</a:t>
            </a:r>
          </a:p>
          <a:p>
            <a:r>
              <a:rPr lang="pt-BR" dirty="0" err="1"/>
              <a:t>Streamlit</a:t>
            </a:r>
            <a:r>
              <a:rPr lang="pt-BR" dirty="0"/>
              <a:t>;</a:t>
            </a:r>
          </a:p>
          <a:p>
            <a:r>
              <a:rPr lang="pt-BR" dirty="0"/>
              <a:t>IA Generativa.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D6AC35E-26D0-729B-F9FE-DF86C7672B06}"/>
              </a:ext>
            </a:extLst>
          </p:cNvPr>
          <p:cNvSpPr txBox="1"/>
          <p:nvPr/>
        </p:nvSpPr>
        <p:spPr>
          <a:xfrm>
            <a:off x="8231930" y="3579543"/>
            <a:ext cx="3677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Cursos extracurriculares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12944A5-14BA-2967-33FE-61598F803372}"/>
              </a:ext>
            </a:extLst>
          </p:cNvPr>
          <p:cNvSpPr txBox="1"/>
          <p:nvPr/>
        </p:nvSpPr>
        <p:spPr>
          <a:xfrm>
            <a:off x="7949180" y="4229226"/>
            <a:ext cx="39601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Fisk (Inglês) | </a:t>
            </a:r>
            <a:r>
              <a:rPr lang="pt-BR" b="1" dirty="0"/>
              <a:t>2017 – 2018 </a:t>
            </a:r>
            <a:r>
              <a:rPr lang="pt-BR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Udemy | </a:t>
            </a:r>
            <a:r>
              <a:rPr lang="en-US" b="1" dirty="0"/>
              <a:t>2025</a:t>
            </a:r>
            <a:r>
              <a:rPr lang="en-US" dirty="0"/>
              <a:t> Machine Learning e Data Science com python de A </a:t>
            </a:r>
            <a:r>
              <a:rPr lang="en-US" dirty="0" err="1"/>
              <a:t>a</a:t>
            </a:r>
            <a:r>
              <a:rPr lang="en-US" dirty="0"/>
              <a:t> Z .</a:t>
            </a:r>
            <a:endParaRPr lang="pt-BR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518FC52D-5BDC-116E-3880-008458BB9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547" y="1151446"/>
            <a:ext cx="813937" cy="840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Universidade Federal do ABC – Wikipédia, a enciclopédia livre">
            <a:extLst>
              <a:ext uri="{FF2B5EF4-FFF2-40B4-BE49-F238E27FC236}">
                <a16:creationId xmlns:a16="http://schemas.microsoft.com/office/drawing/2014/main" id="{F128AB9B-6C5C-A943-6118-7503BF654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983" y="3393930"/>
            <a:ext cx="1999747" cy="2045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6405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ACBD5-463A-0069-750D-5AEE5C242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taú Unibanco – Wikipédia, a enciclopédia livre">
            <a:extLst>
              <a:ext uri="{FF2B5EF4-FFF2-40B4-BE49-F238E27FC236}">
                <a16:creationId xmlns:a16="http://schemas.microsoft.com/office/drawing/2014/main" id="{7D49A878-855C-2ABC-ED50-FE064E0FC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B89A6A2-C6F5-211C-4C19-EBA90D6C117F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EBC88871-29DF-31AD-73F8-F8B317088B9F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6FCFF5D-7EA0-391D-E22F-653DFD9B629C}"/>
              </a:ext>
            </a:extLst>
          </p:cNvPr>
          <p:cNvSpPr txBox="1"/>
          <p:nvPr/>
        </p:nvSpPr>
        <p:spPr>
          <a:xfrm>
            <a:off x="3537528" y="526472"/>
            <a:ext cx="4922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Por que trabalhar no Itaú?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D81D83D3-E71C-4619-5D2C-6165F68B1501}"/>
              </a:ext>
            </a:extLst>
          </p:cNvPr>
          <p:cNvCxnSpPr>
            <a:cxnSpLocks/>
          </p:cNvCxnSpPr>
          <p:nvPr/>
        </p:nvCxnSpPr>
        <p:spPr>
          <a:xfrm>
            <a:off x="3537528" y="1111247"/>
            <a:ext cx="4922982" cy="0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7447DA-2E0E-03F9-9B15-162E0558FF8C}"/>
              </a:ext>
            </a:extLst>
          </p:cNvPr>
          <p:cNvSpPr txBox="1"/>
          <p:nvPr/>
        </p:nvSpPr>
        <p:spPr>
          <a:xfrm>
            <a:off x="2775527" y="1621882"/>
            <a:ext cx="66409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Minha primeira experiência no Itaú foi algo que jamais vou esquecer, pude ver realmente o que é ser um </a:t>
            </a:r>
            <a:r>
              <a:rPr lang="pt-BR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Ituber</a:t>
            </a: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 ter o Jeito Itaú no dia a dia.</a:t>
            </a:r>
          </a:p>
          <a:p>
            <a:endParaRPr lang="pt-BR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Não somente isso, mas aprendi muito quanto a AWS, manipular bases dados, automatização de processos, e isso foi o que ajudou a clarear a minha visão de carreira, e saber que dados é algo que eu realmente quero.</a:t>
            </a:r>
          </a:p>
          <a:p>
            <a:endParaRPr lang="pt-BR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Então sei que estou capacitado pra essa vaga não somente por ter experiência, mas por ter paixão no que faço, ter o conhecimento do que estou fazendo e saber que o Itaú precisa cada vez mais de pessoas assim. </a:t>
            </a:r>
          </a:p>
          <a:p>
            <a:endParaRPr lang="pt-BR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Então posso dizer, seria um prazer enorme voltar a ser um </a:t>
            </a:r>
            <a:r>
              <a:rPr lang="pt-BR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Ituber</a:t>
            </a: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61595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B52551F1-BC7E-769D-E40B-A8E2B37FD4E3}"/>
              </a:ext>
            </a:extLst>
          </p:cNvPr>
          <p:cNvSpPr txBox="1"/>
          <p:nvPr/>
        </p:nvSpPr>
        <p:spPr>
          <a:xfrm>
            <a:off x="537972" y="440698"/>
            <a:ext cx="3277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Qual é o problema?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78BAE5-B0FA-FE1B-7D46-3A286B246319}"/>
              </a:ext>
            </a:extLst>
          </p:cNvPr>
          <p:cNvSpPr txBox="1"/>
          <p:nvPr/>
        </p:nvSpPr>
        <p:spPr>
          <a:xfrm>
            <a:off x="4724590" y="440698"/>
            <a:ext cx="2742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Qual o objetivo?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B1492B5-A39E-94A9-CE16-D8332CC50CC4}"/>
              </a:ext>
            </a:extLst>
          </p:cNvPr>
          <p:cNvSpPr txBox="1"/>
          <p:nvPr/>
        </p:nvSpPr>
        <p:spPr>
          <a:xfrm>
            <a:off x="8376284" y="442484"/>
            <a:ext cx="2742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Como resolver?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90210CF8-3CD5-C533-F5F9-2A82BF6E1822}"/>
              </a:ext>
            </a:extLst>
          </p:cNvPr>
          <p:cNvCxnSpPr>
            <a:cxnSpLocks/>
          </p:cNvCxnSpPr>
          <p:nvPr/>
        </p:nvCxnSpPr>
        <p:spPr>
          <a:xfrm>
            <a:off x="4242816" y="265176"/>
            <a:ext cx="0" cy="6318504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BC3DDAC9-C0C5-D8D1-6BC2-1EA94692BD14}"/>
              </a:ext>
            </a:extLst>
          </p:cNvPr>
          <p:cNvCxnSpPr>
            <a:cxnSpLocks/>
          </p:cNvCxnSpPr>
          <p:nvPr/>
        </p:nvCxnSpPr>
        <p:spPr>
          <a:xfrm>
            <a:off x="7949276" y="265173"/>
            <a:ext cx="0" cy="6318504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9F96F1EC-5F44-5775-20BE-16F58F040CFC}"/>
              </a:ext>
            </a:extLst>
          </p:cNvPr>
          <p:cNvSpPr txBox="1"/>
          <p:nvPr/>
        </p:nvSpPr>
        <p:spPr>
          <a:xfrm>
            <a:off x="565307" y="1267730"/>
            <a:ext cx="32230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 último ano, o governo bruxo foi atingido por uma grave crise financeira, e por conta disso muitos clientes não estão pagando os financiamentos.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CF999C8-870B-9A34-7613-755EC9484C18}"/>
              </a:ext>
            </a:extLst>
          </p:cNvPr>
          <p:cNvSpPr txBox="1"/>
          <p:nvPr/>
        </p:nvSpPr>
        <p:spPr>
          <a:xfrm>
            <a:off x="4484463" y="1267730"/>
            <a:ext cx="32230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Precisamos </a:t>
            </a:r>
            <a:r>
              <a:rPr lang="pt-BR" dirty="0"/>
              <a:t>repensar a estratégia da concessão de crédito, assim reduzindo as possíveis perdas geradas por inadimplentes.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7FDCC5A-7BAB-7E2C-A13B-B9FA34469E0C}"/>
              </a:ext>
            </a:extLst>
          </p:cNvPr>
          <p:cNvSpPr txBox="1"/>
          <p:nvPr/>
        </p:nvSpPr>
        <p:spPr>
          <a:xfrm>
            <a:off x="8403622" y="1267730"/>
            <a:ext cx="32230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Então é criado um projeto de análise de dados para reduzir os custos e definir qual será a melhor estratégia de crédito para o banco </a:t>
            </a:r>
            <a:r>
              <a:rPr lang="pt-BR" dirty="0" err="1"/>
              <a:t>Gringotes</a:t>
            </a:r>
            <a:r>
              <a:rPr lang="pt-BR" dirty="0"/>
              <a:t>.</a:t>
            </a:r>
          </a:p>
        </p:txBody>
      </p:sp>
      <p:pic>
        <p:nvPicPr>
          <p:cNvPr id="12" name="Picture 2" descr="Alvo - ícones de marketing grátis">
            <a:extLst>
              <a:ext uri="{FF2B5EF4-FFF2-40B4-BE49-F238E27FC236}">
                <a16:creationId xmlns:a16="http://schemas.microsoft.com/office/drawing/2014/main" id="{2323971F-DB33-DF6A-B20D-80F76002B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0450" y="3424425"/>
            <a:ext cx="1911096" cy="1911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taú Unibanco – Wikipédia, a enciclopédia livre">
            <a:extLst>
              <a:ext uri="{FF2B5EF4-FFF2-40B4-BE49-F238E27FC236}">
                <a16:creationId xmlns:a16="http://schemas.microsoft.com/office/drawing/2014/main" id="{7D975807-2949-D6E4-5890-56F97DC54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94721D4-2C2F-A402-6A56-17B7C8F19F1E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23565195-E57E-348C-5F26-86600F3A2E9B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6958234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131D711D-AB12-588A-EF75-14F79AADDD5E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Picture 2" descr="Itaú Unibanco – Wikipédia, a enciclopédia livre">
            <a:extLst>
              <a:ext uri="{FF2B5EF4-FFF2-40B4-BE49-F238E27FC236}">
                <a16:creationId xmlns:a16="http://schemas.microsoft.com/office/drawing/2014/main" id="{32E9B66F-2E20-2520-1333-711F5F921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7D24A444-05EA-446F-AD8F-9CC7F205BB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4252653"/>
              </p:ext>
            </p:extLst>
          </p:nvPr>
        </p:nvGraphicFramePr>
        <p:xfrm>
          <a:off x="2038350" y="1496723"/>
          <a:ext cx="8115300" cy="301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097BEA47-6ADF-280D-6F6A-774B6320BE63}"/>
              </a:ext>
            </a:extLst>
          </p:cNvPr>
          <p:cNvSpPr txBox="1"/>
          <p:nvPr/>
        </p:nvSpPr>
        <p:spPr>
          <a:xfrm>
            <a:off x="2038350" y="512064"/>
            <a:ext cx="8115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Linha do tempo da % de Inadimplência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24AA50C-B078-8A80-E357-E2137433466C}"/>
              </a:ext>
            </a:extLst>
          </p:cNvPr>
          <p:cNvSpPr txBox="1"/>
          <p:nvPr/>
        </p:nvSpPr>
        <p:spPr>
          <a:xfrm>
            <a:off x="2653284" y="4690872"/>
            <a:ext cx="6885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A linha laranja representa os bruxos marcados como inadimplentes, conforme os anos foram passando é perceptível que a porcentagem de bruxos inadimplentes aumenta.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63A902D0-8C8F-753C-86F0-61AB3A753D08}"/>
              </a:ext>
            </a:extLst>
          </p:cNvPr>
          <p:cNvCxnSpPr>
            <a:cxnSpLocks/>
          </p:cNvCxnSpPr>
          <p:nvPr/>
        </p:nvCxnSpPr>
        <p:spPr>
          <a:xfrm>
            <a:off x="1664208" y="1158395"/>
            <a:ext cx="8686800" cy="0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3425B78C-F1A8-F41D-77BB-376EDE637925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59AF020-1CD7-C5EA-FF21-983B7FE94495}"/>
              </a:ext>
            </a:extLst>
          </p:cNvPr>
          <p:cNvSpPr/>
          <p:nvPr/>
        </p:nvSpPr>
        <p:spPr>
          <a:xfrm>
            <a:off x="9958521" y="2975928"/>
            <a:ext cx="1097407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Inadimplente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8B60313-EB54-9E7B-D1BB-20E60FCAF5FC}"/>
              </a:ext>
            </a:extLst>
          </p:cNvPr>
          <p:cNvSpPr/>
          <p:nvPr/>
        </p:nvSpPr>
        <p:spPr>
          <a:xfrm>
            <a:off x="9958521" y="2681534"/>
            <a:ext cx="972255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Adimplente</a:t>
            </a:r>
          </a:p>
        </p:txBody>
      </p:sp>
    </p:spTree>
    <p:extLst>
      <p:ext uri="{BB962C8B-B14F-4D97-AF65-F5344CB8AC3E}">
        <p14:creationId xmlns:p14="http://schemas.microsoft.com/office/powerpoint/2010/main" val="2497030841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E0556-790A-84C3-03ED-9A7860304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taú Unibanco – Wikipédia, a enciclopédia livre">
            <a:extLst>
              <a:ext uri="{FF2B5EF4-FFF2-40B4-BE49-F238E27FC236}">
                <a16:creationId xmlns:a16="http://schemas.microsoft.com/office/drawing/2014/main" id="{C3F22519-AA80-FC25-73F0-7401E8EBE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5E90AF6B-9062-8E5B-B00F-74FDA7CCC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695"/>
          <a:stretch>
            <a:fillRect/>
          </a:stretch>
        </p:blipFill>
        <p:spPr>
          <a:xfrm>
            <a:off x="700882" y="243765"/>
            <a:ext cx="6948000" cy="2875854"/>
          </a:xfrm>
          <a:prstGeom prst="rect">
            <a:avLst/>
          </a:prstGeom>
        </p:spPr>
      </p:pic>
      <p:pic>
        <p:nvPicPr>
          <p:cNvPr id="8" name="Imagem 7" descr="Interface gráfica do usuário, Aplicativo, Teams&#10;&#10;O conteúdo gerado por IA pode estar incorreto.">
            <a:extLst>
              <a:ext uri="{FF2B5EF4-FFF2-40B4-BE49-F238E27FC236}">
                <a16:creationId xmlns:a16="http://schemas.microsoft.com/office/drawing/2014/main" id="{1147EB4F-D38B-420C-EFAB-796B87F569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712"/>
          <a:stretch>
            <a:fillRect/>
          </a:stretch>
        </p:blipFill>
        <p:spPr>
          <a:xfrm>
            <a:off x="702468" y="3329455"/>
            <a:ext cx="6948000" cy="287651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260AD9E-FAB7-D0C9-09DA-F1B1D3E6FAAE}"/>
              </a:ext>
            </a:extLst>
          </p:cNvPr>
          <p:cNvSpPr txBox="1"/>
          <p:nvPr/>
        </p:nvSpPr>
        <p:spPr>
          <a:xfrm>
            <a:off x="7977076" y="1460213"/>
            <a:ext cx="264474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Visão Histórica</a:t>
            </a:r>
          </a:p>
          <a:p>
            <a:endParaRPr lang="pt-BR" dirty="0"/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D4A509AC-78FF-B7F7-A91C-62D248C08D08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BA8FADC-F165-CB8D-1479-FFF497B2145E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F8DEE1A-2308-A6E3-F9EE-3E9FCB3175D0}"/>
              </a:ext>
            </a:extLst>
          </p:cNvPr>
          <p:cNvSpPr txBox="1"/>
          <p:nvPr/>
        </p:nvSpPr>
        <p:spPr>
          <a:xfrm>
            <a:off x="7599384" y="4597568"/>
            <a:ext cx="421088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Ano mais recente (2000)</a:t>
            </a:r>
          </a:p>
          <a:p>
            <a:endParaRPr lang="pt-BR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7B284493-0DE5-77FA-99C8-DCAB6F1B8AD2}"/>
              </a:ext>
            </a:extLst>
          </p:cNvPr>
          <p:cNvCxnSpPr>
            <a:cxnSpLocks/>
          </p:cNvCxnSpPr>
          <p:nvPr/>
        </p:nvCxnSpPr>
        <p:spPr>
          <a:xfrm>
            <a:off x="7909560" y="1944779"/>
            <a:ext cx="2779776" cy="0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F52ACD5-CB3A-916C-46BA-29F157608D95}"/>
              </a:ext>
            </a:extLst>
          </p:cNvPr>
          <p:cNvCxnSpPr>
            <a:cxnSpLocks/>
          </p:cNvCxnSpPr>
          <p:nvPr/>
        </p:nvCxnSpPr>
        <p:spPr>
          <a:xfrm>
            <a:off x="7648882" y="5114699"/>
            <a:ext cx="4110302" cy="0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ângulo 14">
            <a:extLst>
              <a:ext uri="{FF2B5EF4-FFF2-40B4-BE49-F238E27FC236}">
                <a16:creationId xmlns:a16="http://schemas.microsoft.com/office/drawing/2014/main" id="{66FCB166-DF92-7E83-C261-967CD15923DA}"/>
              </a:ext>
            </a:extLst>
          </p:cNvPr>
          <p:cNvSpPr/>
          <p:nvPr/>
        </p:nvSpPr>
        <p:spPr>
          <a:xfrm>
            <a:off x="2823890" y="2975370"/>
            <a:ext cx="152868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Adimplente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057BA26-F826-916E-74A3-269F3ABA2A07}"/>
              </a:ext>
            </a:extLst>
          </p:cNvPr>
          <p:cNvSpPr/>
          <p:nvPr/>
        </p:nvSpPr>
        <p:spPr>
          <a:xfrm>
            <a:off x="4721502" y="2978522"/>
            <a:ext cx="152868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Inadimplente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1600F7E-AC71-117C-9F9E-C593D31664FE}"/>
              </a:ext>
            </a:extLst>
          </p:cNvPr>
          <p:cNvSpPr/>
          <p:nvPr/>
        </p:nvSpPr>
        <p:spPr>
          <a:xfrm>
            <a:off x="3044641" y="3112829"/>
            <a:ext cx="91440" cy="91440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B00B7DD-C1B5-5533-8CDA-E57919B8A43B}"/>
              </a:ext>
            </a:extLst>
          </p:cNvPr>
          <p:cNvSpPr/>
          <p:nvPr/>
        </p:nvSpPr>
        <p:spPr>
          <a:xfrm>
            <a:off x="4861385" y="3119619"/>
            <a:ext cx="91440" cy="91440"/>
          </a:xfrm>
          <a:prstGeom prst="rect">
            <a:avLst/>
          </a:prstGeom>
          <a:solidFill>
            <a:srgbClr val="F0F9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9495A61-0EDF-FC83-F404-D05D3EA24C9E}"/>
              </a:ext>
            </a:extLst>
          </p:cNvPr>
          <p:cNvSpPr/>
          <p:nvPr/>
        </p:nvSpPr>
        <p:spPr>
          <a:xfrm>
            <a:off x="2260017" y="2694289"/>
            <a:ext cx="3900637" cy="251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8FC13F6-7A64-5230-D153-BBB72BBDFB51}"/>
              </a:ext>
            </a:extLst>
          </p:cNvPr>
          <p:cNvSpPr/>
          <p:nvPr/>
        </p:nvSpPr>
        <p:spPr>
          <a:xfrm>
            <a:off x="2349553" y="5775434"/>
            <a:ext cx="3900637" cy="251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66234D3-CE98-8AC5-9FC8-7033BD2B9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456" y="3497512"/>
            <a:ext cx="2760455" cy="16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38728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97C3F-D332-11D4-5F15-A040F8316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5F56C5CF-79E5-2C6E-7479-95AB2255A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598" y="3742789"/>
            <a:ext cx="9474807" cy="2914044"/>
          </a:xfrm>
          <a:prstGeom prst="rect">
            <a:avLst/>
          </a:prstGeom>
        </p:spPr>
      </p:pic>
      <p:pic>
        <p:nvPicPr>
          <p:cNvPr id="4" name="Picture 2" descr="Itaú Unibanco – Wikipédia, a enciclopédia livre">
            <a:extLst>
              <a:ext uri="{FF2B5EF4-FFF2-40B4-BE49-F238E27FC236}">
                <a16:creationId xmlns:a16="http://schemas.microsoft.com/office/drawing/2014/main" id="{18BC9B41-7731-65B9-0328-85FA650B9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Linha do tempo&#10;&#10;O conteúdo gerado por IA pode estar incorreto.">
            <a:extLst>
              <a:ext uri="{FF2B5EF4-FFF2-40B4-BE49-F238E27FC236}">
                <a16:creationId xmlns:a16="http://schemas.microsoft.com/office/drawing/2014/main" id="{757B9481-39D5-B8B5-27D0-BA4522D0CC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595" y="1020769"/>
            <a:ext cx="9474803" cy="2914044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13AE9CE1-761D-8F6C-9ACD-CDEB462A3612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5A344768-BDD6-999A-BC77-945CDC459E2F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3CABEBB-490B-5B50-06C2-7687D6E24329}"/>
              </a:ext>
            </a:extLst>
          </p:cNvPr>
          <p:cNvSpPr txBox="1"/>
          <p:nvPr/>
        </p:nvSpPr>
        <p:spPr>
          <a:xfrm>
            <a:off x="2072829" y="386357"/>
            <a:ext cx="8046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Boxplot</a:t>
            </a:r>
            <a:r>
              <a:rPr lang="pt-BR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Distribuição de Renda x Poder Aquisitivo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309EE331-0BC5-D554-1371-46405F67B4ED}"/>
              </a:ext>
            </a:extLst>
          </p:cNvPr>
          <p:cNvCxnSpPr>
            <a:cxnSpLocks/>
          </p:cNvCxnSpPr>
          <p:nvPr/>
        </p:nvCxnSpPr>
        <p:spPr>
          <a:xfrm>
            <a:off x="1655064" y="937009"/>
            <a:ext cx="8686800" cy="0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39469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F0431-0FD0-ACEF-5245-8DD85B935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taú Unibanco – Wikipédia, a enciclopédia livre">
            <a:extLst>
              <a:ext uri="{FF2B5EF4-FFF2-40B4-BE49-F238E27FC236}">
                <a16:creationId xmlns:a16="http://schemas.microsoft.com/office/drawing/2014/main" id="{0BC6E750-73D3-D589-8C3C-007860CA6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DE24E761-2EA2-EA86-3C16-28A80C6D59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8697086"/>
              </p:ext>
            </p:extLst>
          </p:nvPr>
        </p:nvGraphicFramePr>
        <p:xfrm>
          <a:off x="588000" y="1665763"/>
          <a:ext cx="5508000" cy="35264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11B12736-9ACF-48E5-B194-0EF9AF108F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7033401"/>
              </p:ext>
            </p:extLst>
          </p:nvPr>
        </p:nvGraphicFramePr>
        <p:xfrm>
          <a:off x="6096000" y="1665763"/>
          <a:ext cx="5508000" cy="35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0CA6E82D-1F83-7660-5876-E9900EAC3F53}"/>
              </a:ext>
            </a:extLst>
          </p:cNvPr>
          <p:cNvSpPr txBox="1"/>
          <p:nvPr/>
        </p:nvSpPr>
        <p:spPr>
          <a:xfrm>
            <a:off x="2466908" y="5192236"/>
            <a:ext cx="1750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Visão Histórica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61F49A3-7BC4-0C18-65FE-A8FE0E8529C8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C834EAD6-7C3F-335F-203F-A76A1446B832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DF509BB-E8A0-A7A7-0254-C94FA0407C80}"/>
              </a:ext>
            </a:extLst>
          </p:cNvPr>
          <p:cNvSpPr txBox="1"/>
          <p:nvPr/>
        </p:nvSpPr>
        <p:spPr>
          <a:xfrm>
            <a:off x="7471126" y="5192236"/>
            <a:ext cx="2757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Ano Mais Recente (2000)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FD4EA42-4377-9BFE-BEBB-D9F8BC437AD7}"/>
              </a:ext>
            </a:extLst>
          </p:cNvPr>
          <p:cNvSpPr txBox="1"/>
          <p:nvPr/>
        </p:nvSpPr>
        <p:spPr>
          <a:xfrm>
            <a:off x="802000" y="533355"/>
            <a:ext cx="1058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Representatividade de inadimplentes por Risco do Bruxo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18D9FE4-38EE-B2F9-3FF3-40CD615DDFE1}"/>
              </a:ext>
            </a:extLst>
          </p:cNvPr>
          <p:cNvCxnSpPr>
            <a:cxnSpLocks/>
          </p:cNvCxnSpPr>
          <p:nvPr/>
        </p:nvCxnSpPr>
        <p:spPr>
          <a:xfrm>
            <a:off x="702468" y="1113030"/>
            <a:ext cx="10687532" cy="0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ângulo 11">
            <a:extLst>
              <a:ext uri="{FF2B5EF4-FFF2-40B4-BE49-F238E27FC236}">
                <a16:creationId xmlns:a16="http://schemas.microsoft.com/office/drawing/2014/main" id="{8ECCED82-DFE1-244B-07EC-5BE4A668F95F}"/>
              </a:ext>
            </a:extLst>
          </p:cNvPr>
          <p:cNvSpPr/>
          <p:nvPr/>
        </p:nvSpPr>
        <p:spPr>
          <a:xfrm>
            <a:off x="6137377" y="1243101"/>
            <a:ext cx="152868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Adimplente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020FB0A-C860-291B-0137-1DA397E1AD81}"/>
              </a:ext>
            </a:extLst>
          </p:cNvPr>
          <p:cNvSpPr/>
          <p:nvPr/>
        </p:nvSpPr>
        <p:spPr>
          <a:xfrm>
            <a:off x="4567312" y="1239463"/>
            <a:ext cx="152868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Inadimplente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0680C0D-D03A-C766-A461-FE41E4D70298}"/>
              </a:ext>
            </a:extLst>
          </p:cNvPr>
          <p:cNvSpPr/>
          <p:nvPr/>
        </p:nvSpPr>
        <p:spPr>
          <a:xfrm>
            <a:off x="6358128" y="1399032"/>
            <a:ext cx="91440" cy="91440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E1FB6A7-6F22-4E8D-09A0-62D56616BE71}"/>
              </a:ext>
            </a:extLst>
          </p:cNvPr>
          <p:cNvSpPr/>
          <p:nvPr/>
        </p:nvSpPr>
        <p:spPr>
          <a:xfrm>
            <a:off x="4707195" y="1380560"/>
            <a:ext cx="91440" cy="91440"/>
          </a:xfrm>
          <a:prstGeom prst="rect">
            <a:avLst/>
          </a:prstGeom>
          <a:solidFill>
            <a:srgbClr val="FF62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BE85F4B-BAF5-A4DE-7A2E-16C0E5161D8D}"/>
              </a:ext>
            </a:extLst>
          </p:cNvPr>
          <p:cNvSpPr/>
          <p:nvPr/>
        </p:nvSpPr>
        <p:spPr>
          <a:xfrm>
            <a:off x="11299200" y="3188300"/>
            <a:ext cx="304800" cy="59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A8F3363-C069-C18B-E002-C2694AE6DE1F}"/>
              </a:ext>
            </a:extLst>
          </p:cNvPr>
          <p:cNvSpPr/>
          <p:nvPr/>
        </p:nvSpPr>
        <p:spPr>
          <a:xfrm>
            <a:off x="5723761" y="3071865"/>
            <a:ext cx="304800" cy="59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877010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8348E-A450-FAAA-09FC-AEA01DD07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taú Unibanco – Wikipédia, a enciclopédia livre">
            <a:extLst>
              <a:ext uri="{FF2B5EF4-FFF2-40B4-BE49-F238E27FC236}">
                <a16:creationId xmlns:a16="http://schemas.microsoft.com/office/drawing/2014/main" id="{12B66A56-B4CA-1129-43BA-3DC80E106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0BA50954-264C-ECCB-949B-A3275C49A2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9727248"/>
              </p:ext>
            </p:extLst>
          </p:nvPr>
        </p:nvGraphicFramePr>
        <p:xfrm>
          <a:off x="588000" y="1665000"/>
          <a:ext cx="5508000" cy="35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FF635DC3-BF6F-C862-AA56-3826D327EE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5187664"/>
              </p:ext>
            </p:extLst>
          </p:nvPr>
        </p:nvGraphicFramePr>
        <p:xfrm>
          <a:off x="6096000" y="1665000"/>
          <a:ext cx="5508000" cy="35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14063E96-4B71-9C99-6BDF-96DC609A4309}"/>
              </a:ext>
            </a:extLst>
          </p:cNvPr>
          <p:cNvSpPr txBox="1"/>
          <p:nvPr/>
        </p:nvSpPr>
        <p:spPr>
          <a:xfrm>
            <a:off x="351234" y="513829"/>
            <a:ext cx="114895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Representatividade de inadimplentes por Histórico de Crédito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091DEB22-63E6-AED0-7A5D-88AC915CDA89}"/>
              </a:ext>
            </a:extLst>
          </p:cNvPr>
          <p:cNvCxnSpPr>
            <a:cxnSpLocks/>
          </p:cNvCxnSpPr>
          <p:nvPr/>
        </p:nvCxnSpPr>
        <p:spPr>
          <a:xfrm>
            <a:off x="351234" y="1098604"/>
            <a:ext cx="11489532" cy="0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78BDC404-A346-D080-0185-C22AA800C90E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3B11E66A-0264-C4E0-96A4-BB10445241AB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9864F96-A133-69BF-8AC3-916E451012C5}"/>
              </a:ext>
            </a:extLst>
          </p:cNvPr>
          <p:cNvSpPr txBox="1"/>
          <p:nvPr/>
        </p:nvSpPr>
        <p:spPr>
          <a:xfrm>
            <a:off x="2466908" y="5192236"/>
            <a:ext cx="1750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Visão Histórica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9A6A249-3C13-6FB6-9EE7-59BC9844CA8C}"/>
              </a:ext>
            </a:extLst>
          </p:cNvPr>
          <p:cNvSpPr txBox="1"/>
          <p:nvPr/>
        </p:nvSpPr>
        <p:spPr>
          <a:xfrm>
            <a:off x="7471126" y="5192236"/>
            <a:ext cx="2757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Ano Mais Recente (2000)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3618BE4-F0A7-61F1-BAB4-F10D894775C9}"/>
              </a:ext>
            </a:extLst>
          </p:cNvPr>
          <p:cNvSpPr/>
          <p:nvPr/>
        </p:nvSpPr>
        <p:spPr>
          <a:xfrm>
            <a:off x="6137377" y="1243101"/>
            <a:ext cx="152868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Adimplente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D008F89-C00A-1541-4B80-B612711F3FA5}"/>
              </a:ext>
            </a:extLst>
          </p:cNvPr>
          <p:cNvSpPr/>
          <p:nvPr/>
        </p:nvSpPr>
        <p:spPr>
          <a:xfrm>
            <a:off x="4567312" y="1239463"/>
            <a:ext cx="152868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Inadimplente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244E82A-1F9A-A2D2-44E2-1297D5C4DB4E}"/>
              </a:ext>
            </a:extLst>
          </p:cNvPr>
          <p:cNvSpPr/>
          <p:nvPr/>
        </p:nvSpPr>
        <p:spPr>
          <a:xfrm>
            <a:off x="6358128" y="1399032"/>
            <a:ext cx="91440" cy="91440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22C4480-FC89-7559-38DD-D4DCD6550A30}"/>
              </a:ext>
            </a:extLst>
          </p:cNvPr>
          <p:cNvSpPr/>
          <p:nvPr/>
        </p:nvSpPr>
        <p:spPr>
          <a:xfrm>
            <a:off x="4707195" y="1380560"/>
            <a:ext cx="91440" cy="91440"/>
          </a:xfrm>
          <a:prstGeom prst="rect">
            <a:avLst/>
          </a:prstGeom>
          <a:solidFill>
            <a:srgbClr val="FF62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0644FF5-6BFB-87E0-4055-8C8F8CDF2855}"/>
              </a:ext>
            </a:extLst>
          </p:cNvPr>
          <p:cNvSpPr/>
          <p:nvPr/>
        </p:nvSpPr>
        <p:spPr>
          <a:xfrm>
            <a:off x="11299200" y="3133436"/>
            <a:ext cx="304800" cy="59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C8AC0B8-5333-CE13-882F-DBF6A04FF6C5}"/>
              </a:ext>
            </a:extLst>
          </p:cNvPr>
          <p:cNvSpPr/>
          <p:nvPr/>
        </p:nvSpPr>
        <p:spPr>
          <a:xfrm>
            <a:off x="5766816" y="3133435"/>
            <a:ext cx="304800" cy="59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1297351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B9059-AFAC-4304-C8FC-2A90B311C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taú Unibanco – Wikipédia, a enciclopédia livre">
            <a:extLst>
              <a:ext uri="{FF2B5EF4-FFF2-40B4-BE49-F238E27FC236}">
                <a16:creationId xmlns:a16="http://schemas.microsoft.com/office/drawing/2014/main" id="{4805B755-4798-E422-7FFB-EFDDE25E5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B8315179-9674-7960-FC68-1C0E00A66F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8873645"/>
              </p:ext>
            </p:extLst>
          </p:nvPr>
        </p:nvGraphicFramePr>
        <p:xfrm>
          <a:off x="588000" y="1665000"/>
          <a:ext cx="5508000" cy="35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542231C9-D242-B5CD-72E4-D2C13B0DDB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9716686"/>
              </p:ext>
            </p:extLst>
          </p:nvPr>
        </p:nvGraphicFramePr>
        <p:xfrm>
          <a:off x="6096000" y="1665000"/>
          <a:ext cx="5508000" cy="35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2E1CB796-ABBD-3572-CA07-A8BA5D81E501}"/>
              </a:ext>
            </a:extLst>
          </p:cNvPr>
          <p:cNvSpPr txBox="1"/>
          <p:nvPr/>
        </p:nvSpPr>
        <p:spPr>
          <a:xfrm>
            <a:off x="785217" y="513829"/>
            <a:ext cx="106215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Representatividade de inadimplentes por Local de Venda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F47BD83-6164-DAB3-66F9-B150EC7B1DCC}"/>
              </a:ext>
            </a:extLst>
          </p:cNvPr>
          <p:cNvCxnSpPr>
            <a:cxnSpLocks/>
          </p:cNvCxnSpPr>
          <p:nvPr/>
        </p:nvCxnSpPr>
        <p:spPr>
          <a:xfrm>
            <a:off x="702468" y="1098604"/>
            <a:ext cx="10704315" cy="0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B4F3A492-FE40-C3C3-E837-AE7BDEE239D7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1F780D78-D110-3BB6-17F6-1524C4F760C9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A073938-A016-7EF4-CCD0-8186A145DF3E}"/>
              </a:ext>
            </a:extLst>
          </p:cNvPr>
          <p:cNvSpPr txBox="1"/>
          <p:nvPr/>
        </p:nvSpPr>
        <p:spPr>
          <a:xfrm>
            <a:off x="2466908" y="5192236"/>
            <a:ext cx="1750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Visão Histórica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AE254BB-F864-589A-8889-0F59EE36130A}"/>
              </a:ext>
            </a:extLst>
          </p:cNvPr>
          <p:cNvSpPr txBox="1"/>
          <p:nvPr/>
        </p:nvSpPr>
        <p:spPr>
          <a:xfrm>
            <a:off x="7471126" y="5192236"/>
            <a:ext cx="2757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Ano Mais Recente (2000)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9A067E9-209A-E9DA-074B-D5D587A1E613}"/>
              </a:ext>
            </a:extLst>
          </p:cNvPr>
          <p:cNvSpPr/>
          <p:nvPr/>
        </p:nvSpPr>
        <p:spPr>
          <a:xfrm>
            <a:off x="6137377" y="1243101"/>
            <a:ext cx="152868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Adimplente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BB98F6D-8ACB-D504-F652-F0127F4F06C2}"/>
              </a:ext>
            </a:extLst>
          </p:cNvPr>
          <p:cNvSpPr/>
          <p:nvPr/>
        </p:nvSpPr>
        <p:spPr>
          <a:xfrm>
            <a:off x="4567312" y="1239463"/>
            <a:ext cx="152868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Inadimplente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40C35DB-9B26-8969-8B7D-D9DFCAD6C4BC}"/>
              </a:ext>
            </a:extLst>
          </p:cNvPr>
          <p:cNvSpPr/>
          <p:nvPr/>
        </p:nvSpPr>
        <p:spPr>
          <a:xfrm>
            <a:off x="6358128" y="1399032"/>
            <a:ext cx="91440" cy="91440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624888C1-D50F-79BC-2653-6CBE3F70CA91}"/>
              </a:ext>
            </a:extLst>
          </p:cNvPr>
          <p:cNvSpPr/>
          <p:nvPr/>
        </p:nvSpPr>
        <p:spPr>
          <a:xfrm>
            <a:off x="4707195" y="1389796"/>
            <a:ext cx="91440" cy="91440"/>
          </a:xfrm>
          <a:prstGeom prst="rect">
            <a:avLst/>
          </a:prstGeom>
          <a:solidFill>
            <a:srgbClr val="FF62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408E6FD-26D0-E90E-7995-1E614383FD3B}"/>
              </a:ext>
            </a:extLst>
          </p:cNvPr>
          <p:cNvSpPr/>
          <p:nvPr/>
        </p:nvSpPr>
        <p:spPr>
          <a:xfrm>
            <a:off x="5698836" y="3103418"/>
            <a:ext cx="304800" cy="59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DA8AA2A-0F57-CEF7-3882-79A46B5652C0}"/>
              </a:ext>
            </a:extLst>
          </p:cNvPr>
          <p:cNvSpPr/>
          <p:nvPr/>
        </p:nvSpPr>
        <p:spPr>
          <a:xfrm>
            <a:off x="11299200" y="3188300"/>
            <a:ext cx="304800" cy="591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9368667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taú Unibanco – Wikipédia, a enciclopédia livre">
            <a:extLst>
              <a:ext uri="{FF2B5EF4-FFF2-40B4-BE49-F238E27FC236}">
                <a16:creationId xmlns:a16="http://schemas.microsoft.com/office/drawing/2014/main" id="{BDE65F4B-C8B8-330E-D963-5E9535B99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BC291FE-49CE-AC6E-8FFA-B3773133B2A4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EC868020-5B96-B455-E83E-F6AC2CB28FCC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3F4D400-26A3-D195-1A8B-AD065C6F0FD7}"/>
              </a:ext>
            </a:extLst>
          </p:cNvPr>
          <p:cNvSpPr txBox="1"/>
          <p:nvPr/>
        </p:nvSpPr>
        <p:spPr>
          <a:xfrm>
            <a:off x="4531478" y="502129"/>
            <a:ext cx="31290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Base de dados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04AA6B27-F48E-2EA4-20D1-126880851E7A}"/>
              </a:ext>
            </a:extLst>
          </p:cNvPr>
          <p:cNvCxnSpPr>
            <a:cxnSpLocks/>
          </p:cNvCxnSpPr>
          <p:nvPr/>
        </p:nvCxnSpPr>
        <p:spPr>
          <a:xfrm>
            <a:off x="3998078" y="1086904"/>
            <a:ext cx="4195844" cy="0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F873BF0-964B-84E1-EAD7-45EC55D046C1}"/>
              </a:ext>
            </a:extLst>
          </p:cNvPr>
          <p:cNvSpPr txBox="1"/>
          <p:nvPr/>
        </p:nvSpPr>
        <p:spPr>
          <a:xfrm>
            <a:off x="2490168" y="1102842"/>
            <a:ext cx="7211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Para refazer esse case vou separar entre </a:t>
            </a:r>
            <a:r>
              <a:rPr lang="pt-BR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base de treino </a:t>
            </a: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 de </a:t>
            </a:r>
            <a:r>
              <a:rPr lang="pt-BR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teste</a:t>
            </a: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3594C49-0234-77C7-B294-A51E6C6B8650}"/>
              </a:ext>
            </a:extLst>
          </p:cNvPr>
          <p:cNvSpPr txBox="1"/>
          <p:nvPr/>
        </p:nvSpPr>
        <p:spPr>
          <a:xfrm>
            <a:off x="702468" y="2553818"/>
            <a:ext cx="36735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Base de treino será constituída dos últimos 10 anos (1990 até 1999).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Enquanto a base de teste será somente o ano 2000.</a:t>
            </a:r>
          </a:p>
          <a:p>
            <a:endParaRPr lang="pt-BR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0280224-9175-9BFD-FEA2-B3D57C29C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974" y="1995123"/>
            <a:ext cx="6240623" cy="286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904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F2B80-6717-CF1D-8120-D0E174548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taú Unibanco – Wikipédia, a enciclopédia livre">
            <a:extLst>
              <a:ext uri="{FF2B5EF4-FFF2-40B4-BE49-F238E27FC236}">
                <a16:creationId xmlns:a16="http://schemas.microsoft.com/office/drawing/2014/main" id="{EBE458CA-32AA-20AF-61AC-2A6AF79D6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FB864BF9-9B15-E7A4-1E91-521E2E421118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3C591691-64E5-7CA3-A5C2-439AFE686FC2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FFB5530-9929-461A-BE0E-E063ABCA2F6B}"/>
              </a:ext>
            </a:extLst>
          </p:cNvPr>
          <p:cNvSpPr txBox="1"/>
          <p:nvPr/>
        </p:nvSpPr>
        <p:spPr>
          <a:xfrm>
            <a:off x="4531478" y="502129"/>
            <a:ext cx="31290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Modelo Antigo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89E2507-3D12-01FA-DC66-C74267ABBBDC}"/>
              </a:ext>
            </a:extLst>
          </p:cNvPr>
          <p:cNvCxnSpPr>
            <a:cxnSpLocks/>
          </p:cNvCxnSpPr>
          <p:nvPr/>
        </p:nvCxnSpPr>
        <p:spPr>
          <a:xfrm>
            <a:off x="3998078" y="1086904"/>
            <a:ext cx="4195844" cy="0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C6AD0224-D4AB-84D4-D124-02459CA0304D}"/>
              </a:ext>
            </a:extLst>
          </p:cNvPr>
          <p:cNvSpPr txBox="1"/>
          <p:nvPr/>
        </p:nvSpPr>
        <p:spPr>
          <a:xfrm>
            <a:off x="2706243" y="1086904"/>
            <a:ext cx="6791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Aqui eu decidi testar o modelo antigo na base de dados nova.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40E4C5F-F0B8-E6B3-3D26-3A4D075A7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275" y="1456236"/>
            <a:ext cx="626745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461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0047F-70FE-038F-9573-0E4000681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taú Unibanco – Wikipédia, a enciclopédia livre">
            <a:extLst>
              <a:ext uri="{FF2B5EF4-FFF2-40B4-BE49-F238E27FC236}">
                <a16:creationId xmlns:a16="http://schemas.microsoft.com/office/drawing/2014/main" id="{52F4F01D-4E93-F1B5-2511-51DF23064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AF385A06-0108-B495-4E9E-84E54D190EF0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82314290-3C74-D621-1746-A1F921FF3183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864AFA0-D02B-E6A1-0525-8455BB5BBE18}"/>
              </a:ext>
            </a:extLst>
          </p:cNvPr>
          <p:cNvSpPr txBox="1"/>
          <p:nvPr/>
        </p:nvSpPr>
        <p:spPr>
          <a:xfrm>
            <a:off x="4531478" y="502129"/>
            <a:ext cx="31290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Modelo Antigo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99D79815-850C-D456-1174-CEBE1E4D8015}"/>
              </a:ext>
            </a:extLst>
          </p:cNvPr>
          <p:cNvCxnSpPr>
            <a:cxnSpLocks/>
          </p:cNvCxnSpPr>
          <p:nvPr/>
        </p:nvCxnSpPr>
        <p:spPr>
          <a:xfrm>
            <a:off x="3998078" y="1086904"/>
            <a:ext cx="4195844" cy="0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9634E760-A0EB-C72E-21F4-54CE491959D6}"/>
              </a:ext>
            </a:extLst>
          </p:cNvPr>
          <p:cNvSpPr txBox="1"/>
          <p:nvPr/>
        </p:nvSpPr>
        <p:spPr>
          <a:xfrm>
            <a:off x="2706243" y="1086904"/>
            <a:ext cx="6791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Aqui eu decidi testar o modelo antigo na base de dados nova, mas dessa vez com um tratamento de </a:t>
            </a:r>
            <a:r>
              <a:rPr lang="pt-BR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Oversampling</a:t>
            </a: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54474C3-AB2F-83E1-6363-A6904FBF7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275" y="1733235"/>
            <a:ext cx="626745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006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313CB-55B6-F994-42C8-5B3F947E8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taú Unibanco – Wikipédia, a enciclopédia livre">
            <a:extLst>
              <a:ext uri="{FF2B5EF4-FFF2-40B4-BE49-F238E27FC236}">
                <a16:creationId xmlns:a16="http://schemas.microsoft.com/office/drawing/2014/main" id="{C7E306EB-77D2-5AAB-EACE-CE50599257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AE0666D8-251D-E462-2E2C-F791584FD5AB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C413A045-50BA-8A44-4566-2849AD307EFE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513CA36-1E5D-0DBE-131D-CEF47019A9D9}"/>
              </a:ext>
            </a:extLst>
          </p:cNvPr>
          <p:cNvSpPr txBox="1"/>
          <p:nvPr/>
        </p:nvSpPr>
        <p:spPr>
          <a:xfrm>
            <a:off x="3200400" y="502129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Modelo RF - Atualizado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7C325CB7-9BE5-6CC7-0F50-E100AD0A3182}"/>
              </a:ext>
            </a:extLst>
          </p:cNvPr>
          <p:cNvCxnSpPr>
            <a:cxnSpLocks/>
          </p:cNvCxnSpPr>
          <p:nvPr/>
        </p:nvCxnSpPr>
        <p:spPr>
          <a:xfrm>
            <a:off x="3718678" y="1086904"/>
            <a:ext cx="4860000" cy="0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0B45A797-6DA4-9E6D-1F5A-CF60AAB10CD5}"/>
              </a:ext>
            </a:extLst>
          </p:cNvPr>
          <p:cNvSpPr txBox="1"/>
          <p:nvPr/>
        </p:nvSpPr>
        <p:spPr>
          <a:xfrm>
            <a:off x="2706243" y="1148546"/>
            <a:ext cx="6791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 as últimas análises decidi não seguir com o </a:t>
            </a:r>
            <a:r>
              <a:rPr lang="pt-BR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Oversampling</a:t>
            </a: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e atualizei o modelo de Random Forest com novos Parâmetros: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AAA46B-C72F-20D2-5763-E6294609C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4637" y="1817575"/>
            <a:ext cx="3680559" cy="2584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260EDE1-B669-CCD9-5D9B-4C1D7E7999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3502" y="4401797"/>
            <a:ext cx="2962828" cy="783558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81AD9A8-7B71-B465-A1A2-C663CC7CC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6805" y="1817575"/>
            <a:ext cx="3680559" cy="274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DB95C90-2E06-B169-9B40-2037ED0087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6805" y="4579908"/>
            <a:ext cx="3680560" cy="127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892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E70E0-6FAB-2040-2CCE-9F08B3C13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taú Unibanco – Wikipédia, a enciclopédia livre">
            <a:extLst>
              <a:ext uri="{FF2B5EF4-FFF2-40B4-BE49-F238E27FC236}">
                <a16:creationId xmlns:a16="http://schemas.microsoft.com/office/drawing/2014/main" id="{21FC5DF5-84FA-CC28-2B5D-F1FAABED1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88C58ECE-C727-A6DB-72B5-88F80E7C1B85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6B2B08D5-ECC8-B8F4-5449-65F21950D506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A64336B-0134-4266-AAA1-D8F93412E3BE}"/>
              </a:ext>
            </a:extLst>
          </p:cNvPr>
          <p:cNvSpPr txBox="1"/>
          <p:nvPr/>
        </p:nvSpPr>
        <p:spPr>
          <a:xfrm>
            <a:off x="3200400" y="502129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Modelo LGBM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01D385E6-1E9D-E7E8-EC36-9F2117C1AC43}"/>
              </a:ext>
            </a:extLst>
          </p:cNvPr>
          <p:cNvCxnSpPr>
            <a:cxnSpLocks/>
          </p:cNvCxnSpPr>
          <p:nvPr/>
        </p:nvCxnSpPr>
        <p:spPr>
          <a:xfrm>
            <a:off x="3718678" y="1086904"/>
            <a:ext cx="4860000" cy="0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77CABADA-93B9-D8C1-BD1C-9DF0250E275B}"/>
              </a:ext>
            </a:extLst>
          </p:cNvPr>
          <p:cNvSpPr txBox="1"/>
          <p:nvPr/>
        </p:nvSpPr>
        <p:spPr>
          <a:xfrm>
            <a:off x="2706243" y="1148546"/>
            <a:ext cx="6791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Aqui eu Realizei um </a:t>
            </a:r>
            <a:r>
              <a:rPr lang="pt-BR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Tunning</a:t>
            </a: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no LGBM usando o OPTUNA e cheguei nos seguintes resultados: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549BEAE-EB4E-5457-850B-3A599DA3C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230" y="1794877"/>
            <a:ext cx="3691635" cy="25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5F348A-7E3E-55F4-27B6-E0FB9018F8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510" y="4654159"/>
            <a:ext cx="3616028" cy="1260000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2173F64-34CA-80C3-0672-C7988EE70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031" y="1856518"/>
            <a:ext cx="3672986" cy="27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641894E-6F89-1EE5-ED40-55FEEBF490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0678" y="4492159"/>
            <a:ext cx="2976000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940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Método PDCA: por que ele é indispensável nos seus projetos?">
            <a:extLst>
              <a:ext uri="{FF2B5EF4-FFF2-40B4-BE49-F238E27FC236}">
                <a16:creationId xmlns:a16="http://schemas.microsoft.com/office/drawing/2014/main" id="{2A2FA617-01A8-62D5-327F-FB582C228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904" y="2905967"/>
            <a:ext cx="5111496" cy="2875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Itaú Unibanco – Wikipédia, a enciclopédia livre">
            <a:extLst>
              <a:ext uri="{FF2B5EF4-FFF2-40B4-BE49-F238E27FC236}">
                <a16:creationId xmlns:a16="http://schemas.microsoft.com/office/drawing/2014/main" id="{7B19F172-19B0-BA91-6DA3-22C975C6B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5" y="6173455"/>
            <a:ext cx="274323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E2EA7213-CCC0-966C-BACE-48429071B9B5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144A5867-3F0F-E36B-CE92-A50AC49D0835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1DFE6DB-F4B9-45E6-86D2-E578EDF34B34}"/>
              </a:ext>
            </a:extLst>
          </p:cNvPr>
          <p:cNvSpPr txBox="1"/>
          <p:nvPr/>
        </p:nvSpPr>
        <p:spPr>
          <a:xfrm>
            <a:off x="2101304" y="502129"/>
            <a:ext cx="7989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Conclusão e Recomendações Estratégicas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B6C6985D-67BA-9E4A-FD10-F39E9EC2F79A}"/>
              </a:ext>
            </a:extLst>
          </p:cNvPr>
          <p:cNvCxnSpPr>
            <a:cxnSpLocks/>
          </p:cNvCxnSpPr>
          <p:nvPr/>
        </p:nvCxnSpPr>
        <p:spPr>
          <a:xfrm>
            <a:off x="2032000" y="1070901"/>
            <a:ext cx="8058696" cy="0"/>
          </a:xfrm>
          <a:prstGeom prst="line">
            <a:avLst/>
          </a:prstGeom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8CA2DE8-1D9B-1EAF-8DF0-0D3A166FB208}"/>
              </a:ext>
            </a:extLst>
          </p:cNvPr>
          <p:cNvSpPr txBox="1"/>
          <p:nvPr/>
        </p:nvSpPr>
        <p:spPr>
          <a:xfrm>
            <a:off x="1932693" y="1589033"/>
            <a:ext cx="412865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Segmentação de Risco e Restrição de Crédito;</a:t>
            </a:r>
          </a:p>
          <a:p>
            <a:endParaRPr lang="pt-BR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Ofertas Diferenciadas por Local e Produto.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5A98FC6-7033-4032-821C-8AC8BC0B4F97}"/>
              </a:ext>
            </a:extLst>
          </p:cNvPr>
          <p:cNvSpPr txBox="1"/>
          <p:nvPr/>
        </p:nvSpPr>
        <p:spPr>
          <a:xfrm>
            <a:off x="6130652" y="2050698"/>
            <a:ext cx="41286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Potencial do uso de Machine Learning;</a:t>
            </a:r>
          </a:p>
        </p:txBody>
      </p:sp>
    </p:spTree>
    <p:extLst>
      <p:ext uri="{BB962C8B-B14F-4D97-AF65-F5344CB8AC3E}">
        <p14:creationId xmlns:p14="http://schemas.microsoft.com/office/powerpoint/2010/main" val="2627148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834FE-192E-939B-C95E-FFD1A67B2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813D49B-541E-E76A-53FF-D574DED8BF6E}"/>
              </a:ext>
            </a:extLst>
          </p:cNvPr>
          <p:cNvSpPr/>
          <p:nvPr/>
        </p:nvSpPr>
        <p:spPr>
          <a:xfrm>
            <a:off x="0" y="6656833"/>
            <a:ext cx="12192000" cy="201167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FE5828C3-9538-D830-2AF1-3040A3F4C0A8}"/>
              </a:ext>
            </a:extLst>
          </p:cNvPr>
          <p:cNvSpPr/>
          <p:nvPr/>
        </p:nvSpPr>
        <p:spPr>
          <a:xfrm>
            <a:off x="6803136" y="0"/>
            <a:ext cx="5388864" cy="6967728"/>
          </a:xfrm>
          <a:custGeom>
            <a:avLst/>
            <a:gdLst>
              <a:gd name="connsiteX0" fmla="*/ 5257800 w 5257800"/>
              <a:gd name="connsiteY0" fmla="*/ 0 h 6821424"/>
              <a:gd name="connsiteX1" fmla="*/ 4041648 w 5257800"/>
              <a:gd name="connsiteY1" fmla="*/ 1819656 h 6821424"/>
              <a:gd name="connsiteX2" fmla="*/ 4974336 w 5257800"/>
              <a:gd name="connsiteY2" fmla="*/ 3922776 h 6821424"/>
              <a:gd name="connsiteX3" fmla="*/ 0 w 5257800"/>
              <a:gd name="connsiteY3" fmla="*/ 6821424 h 6821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7800" h="6821424">
                <a:moveTo>
                  <a:pt x="5257800" y="0"/>
                </a:moveTo>
                <a:cubicBezTo>
                  <a:pt x="4673346" y="582930"/>
                  <a:pt x="4088892" y="1165860"/>
                  <a:pt x="4041648" y="1819656"/>
                </a:cubicBezTo>
                <a:cubicBezTo>
                  <a:pt x="3994404" y="2473452"/>
                  <a:pt x="5647944" y="3089148"/>
                  <a:pt x="4974336" y="3922776"/>
                </a:cubicBezTo>
                <a:cubicBezTo>
                  <a:pt x="4300728" y="4756404"/>
                  <a:pt x="1165860" y="6466332"/>
                  <a:pt x="0" y="6821424"/>
                </a:cubicBezTo>
              </a:path>
            </a:pathLst>
          </a:custGeom>
          <a:noFill/>
          <a:ln>
            <a:solidFill>
              <a:srgbClr val="FF6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2" descr="Itaú Unibanco – Wikipédia, a enciclopédia livre">
            <a:extLst>
              <a:ext uri="{FF2B5EF4-FFF2-40B4-BE49-F238E27FC236}">
                <a16:creationId xmlns:a16="http://schemas.microsoft.com/office/drawing/2014/main" id="{9B425353-1667-E58C-E81D-28721C2AB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369" y="421879"/>
            <a:ext cx="5388864" cy="5388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6253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618</Words>
  <Application>Microsoft Office PowerPoint</Application>
  <PresentationFormat>Widescreen</PresentationFormat>
  <Paragraphs>93</Paragraphs>
  <Slides>17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Roboto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Antonio Silva da Mata</dc:creator>
  <cp:lastModifiedBy>Marco Antonio Silva da Mata</cp:lastModifiedBy>
  <cp:revision>2</cp:revision>
  <dcterms:created xsi:type="dcterms:W3CDTF">2025-10-07T08:15:16Z</dcterms:created>
  <dcterms:modified xsi:type="dcterms:W3CDTF">2025-11-09T20:44:15Z</dcterms:modified>
</cp:coreProperties>
</file>